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546" r:id="rId3"/>
    <p:sldId id="269" r:id="rId4"/>
    <p:sldId id="547" r:id="rId5"/>
    <p:sldId id="270" r:id="rId6"/>
    <p:sldId id="548" r:id="rId7"/>
    <p:sldId id="549" r:id="rId8"/>
    <p:sldId id="550" r:id="rId9"/>
    <p:sldId id="273" r:id="rId10"/>
    <p:sldId id="274" r:id="rId11"/>
    <p:sldId id="553" r:id="rId12"/>
    <p:sldId id="554" r:id="rId13"/>
    <p:sldId id="555" r:id="rId14"/>
    <p:sldId id="556" r:id="rId15"/>
    <p:sldId id="557" r:id="rId16"/>
    <p:sldId id="558" r:id="rId17"/>
    <p:sldId id="559" r:id="rId18"/>
    <p:sldId id="560" r:id="rId19"/>
    <p:sldId id="561" r:id="rId20"/>
    <p:sldId id="565" r:id="rId21"/>
    <p:sldId id="563" r:id="rId22"/>
    <p:sldId id="56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2BC32-FE5B-197C-DE6E-65BD3370C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13BE83-042B-FC1D-41D0-8B076F4F2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E4B81-CCCB-6EB8-4580-8E523ABBD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D2A3-355F-4994-A4E9-F62A521F29C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78D30-3B1F-875C-448F-93A990557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E6C9F-45DF-FE66-5709-B20711F1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93E1-6EA7-4FD2-9051-18C11556B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816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C4068-BA41-4DB3-F4F4-DB154817A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DD5EF-0DB5-5322-BDFF-F9346A2AB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3070F-072B-2EAF-A8E1-ACE112B0F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D2A3-355F-4994-A4E9-F62A521F29C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36AE8-9A48-914A-CE70-6CD8D86A2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C5C64-82CA-FF78-B801-6CECE628E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93E1-6EA7-4FD2-9051-18C11556B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930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45389-0311-286E-438D-4D1FF32D6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7D21F-68E9-651C-1C41-DD64E53FE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3288C-60FF-8993-42C3-594B4F493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D2A3-355F-4994-A4E9-F62A521F29C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D65D1-F5D1-B6BB-7AE5-0FA3A3A29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65E4A-CBE5-4DE0-292A-48D73DDA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93E1-6EA7-4FD2-9051-18C11556B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32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05F12-77CC-3144-E035-647E9C83C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FD19A-6471-27AC-44CF-C4E3C4C52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9638F-0F7A-50D6-BD52-F962D0052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3A598E-307F-641B-5D3E-67932249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D2A3-355F-4994-A4E9-F62A521F29C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40224F-778D-E165-E222-CEDF0369D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2964F-8A25-3F1B-EB69-AC3C20586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93E1-6EA7-4FD2-9051-18C11556B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880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5191F-EBBE-9E7A-E7D7-53C844BDA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DF5B0-C2EE-FEF9-1CF2-58B96254EE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60D83-866E-71DA-800F-15179A5D9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74A61-FF73-8B1B-9BE8-3AC33D1ACF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D5F18-572B-B868-0F58-B8D27E386E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BDA55E-B562-309F-C86F-E85E961C5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D2A3-355F-4994-A4E9-F62A521F29C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DB3433-9A17-0AEE-FDE5-D1C646703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BF5388-E45F-B0AD-F1AF-E1C12553F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93E1-6EA7-4FD2-9051-18C11556B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6447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CEC10-BD7C-C92A-A4DF-0CB6357CD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C2A5CA-991B-C702-BD79-45051D834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D2A3-355F-4994-A4E9-F62A521F29C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05EF3-C759-4AF1-94C3-916FE83CD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91FBE-10BF-00AD-DBF4-7412E77A9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93E1-6EA7-4FD2-9051-18C11556B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678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EF718-F8A3-856B-C77D-E0473AC03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D2A3-355F-4994-A4E9-F62A521F29C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6AC018-4C19-C2DA-1279-CC8EFA017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670FEF-3641-51B6-4EA0-D84E40A92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93E1-6EA7-4FD2-9051-18C11556B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897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E669-A9DF-3B5E-F4C7-F7F0DAC15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3B340-4BE1-1561-5208-BD24A6F8B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E4CFD1-E0CF-10FE-8B39-043F6C15E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CAAFD-6CEB-3102-319C-2F44F280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D2A3-355F-4994-A4E9-F62A521F29C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5A780-A525-18AB-7A1A-1F4244907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374052-A8AA-EAEA-4F4E-49F5E0624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93E1-6EA7-4FD2-9051-18C11556B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1404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DE5B7-37C5-7042-D443-147186859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C6CCF8-2BE1-0582-97C4-C95CE8EA8D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08857-054E-934F-5DCF-37346E1E3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CA238-EACB-9209-FB49-47EB85CA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D2A3-355F-4994-A4E9-F62A521F29C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CBD8E-BDAB-26CF-A886-1691C0AE9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AF6A7-E8D0-C8FE-D166-578D211C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93E1-6EA7-4FD2-9051-18C11556B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892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1D56-CDE4-6ABD-E88E-2E2C971B1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AA125-FFA0-2C73-8B66-252CF451A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50EBD-28E2-D3DE-4280-6F1B2FFDB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D2A3-355F-4994-A4E9-F62A521F29C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40A1-DEFF-EB72-3B8E-F4F5F6106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D64401-BFAD-2AAC-F1E4-E15554B42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93E1-6EA7-4FD2-9051-18C11556B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559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AC9270-6AF2-0A1D-96F6-5746CFC493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6FC646-2095-90F5-B2E4-BB00FDBA5F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F37DB-D0A4-A1DE-FEE9-ABE4B905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0D2A3-355F-4994-A4E9-F62A521F29C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0AD3B-E660-AF71-054A-83285CD60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CCCF0-69F1-2D60-5B96-EF84464B2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D93E1-6EA7-4FD2-9051-18C11556B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2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3BCB98-C62B-CC36-CA5F-A26973F3D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F2DCDB-39D7-014B-48D8-97DC02E80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BF05A-FD36-4A93-16B5-F44EEBFED5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0D2A3-355F-4994-A4E9-F62A521F29CC}" type="datetimeFigureOut">
              <a:rPr lang="en-IN" smtClean="0"/>
              <a:t>08-12-2025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3EB12-D032-AB54-9AF1-FA4D555BD7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B167B-52AC-1E22-D89F-DDD136FB0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8D93E1-6EA7-4FD2-9051-18C11556BF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068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1_ma74/preview" TargetMode="External"/><Relationship Id="rId7" Type="http://schemas.openxmlformats.org/officeDocument/2006/relationships/hyperlink" Target="https://www.coursera.org/learn/inferential-statistical-analysis-python?specialization=statistics-with-%20%20python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statistics-with-python/" TargetMode="External"/><Relationship Id="rId5" Type="http://schemas.openxmlformats.org/officeDocument/2006/relationships/hyperlink" Target="https://www.khanacademy.org/math/statistics-probability" TargetMode="External"/><Relationship Id="rId4" Type="http://schemas.openxmlformats.org/officeDocument/2006/relationships/hyperlink" Target="http://mathworld.wolfram.com/topics/ProbabilityandStatistics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369977" y="418414"/>
            <a:ext cx="7794688" cy="836375"/>
            <a:chOff x="3614875" y="288035"/>
            <a:chExt cx="12325350" cy="11963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4875" y="332231"/>
              <a:ext cx="12324737" cy="115214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43883" y="318515"/>
              <a:ext cx="12248388" cy="82143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8832" y="288035"/>
              <a:ext cx="4538472" cy="1065276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87424" y="939438"/>
            <a:ext cx="12114896" cy="1030457"/>
            <a:chOff x="138239" y="1413255"/>
            <a:chExt cx="19156680" cy="1629410"/>
          </a:xfrm>
        </p:grpSpPr>
        <p:sp>
          <p:nvSpPr>
            <p:cNvPr id="8" name="object 8"/>
            <p:cNvSpPr/>
            <p:nvPr/>
          </p:nvSpPr>
          <p:spPr>
            <a:xfrm>
              <a:off x="150939" y="1425955"/>
              <a:ext cx="19131280" cy="1604010"/>
            </a:xfrm>
            <a:custGeom>
              <a:avLst/>
              <a:gdLst/>
              <a:ahLst/>
              <a:cxnLst/>
              <a:rect l="l" t="t" r="r" b="b"/>
              <a:pathLst>
                <a:path w="19131280" h="1604010">
                  <a:moveTo>
                    <a:pt x="19130899" y="0"/>
                  </a:moveTo>
                  <a:lnTo>
                    <a:pt x="0" y="0"/>
                  </a:lnTo>
                  <a:lnTo>
                    <a:pt x="0" y="1603882"/>
                  </a:lnTo>
                  <a:lnTo>
                    <a:pt x="19130899" y="1603882"/>
                  </a:lnTo>
                  <a:lnTo>
                    <a:pt x="191308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138" dirty="0"/>
            </a:p>
          </p:txBody>
        </p:sp>
        <p:sp>
          <p:nvSpPr>
            <p:cNvPr id="9" name="object 9"/>
            <p:cNvSpPr/>
            <p:nvPr/>
          </p:nvSpPr>
          <p:spPr>
            <a:xfrm>
              <a:off x="150939" y="1425955"/>
              <a:ext cx="19131280" cy="1604010"/>
            </a:xfrm>
            <a:custGeom>
              <a:avLst/>
              <a:gdLst/>
              <a:ahLst/>
              <a:cxnLst/>
              <a:rect l="l" t="t" r="r" b="b"/>
              <a:pathLst>
                <a:path w="19131280" h="1604010">
                  <a:moveTo>
                    <a:pt x="0" y="1603882"/>
                  </a:moveTo>
                  <a:lnTo>
                    <a:pt x="19130899" y="1603882"/>
                  </a:lnTo>
                  <a:lnTo>
                    <a:pt x="19130899" y="0"/>
                  </a:lnTo>
                  <a:lnTo>
                    <a:pt x="0" y="0"/>
                  </a:lnTo>
                  <a:lnTo>
                    <a:pt x="0" y="160388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138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139738" y="1252961"/>
            <a:ext cx="4020228" cy="378297"/>
          </a:xfrm>
          <a:prstGeom prst="rect">
            <a:avLst/>
          </a:prstGeom>
        </p:spPr>
        <p:txBody>
          <a:bodyPr vert="horz" wrap="square" lIns="0" tIns="8433" rIns="0" bIns="0" rtlCol="0">
            <a:spAutoFit/>
          </a:bodyPr>
          <a:lstStyle/>
          <a:p>
            <a:pPr marL="8031">
              <a:spcBef>
                <a:spcPts val="66"/>
              </a:spcBef>
            </a:pPr>
            <a:r>
              <a:rPr sz="2403" b="1" spc="-41" dirty="0">
                <a:solidFill>
                  <a:srgbClr val="001F5F"/>
                </a:solidFill>
                <a:latin typeface="Times New Roman"/>
                <a:cs typeface="Times New Roman"/>
              </a:rPr>
              <a:t>SCHOOL</a:t>
            </a:r>
            <a:r>
              <a:rPr sz="2403" b="1" spc="-22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3" b="1" spc="-19" dirty="0">
                <a:solidFill>
                  <a:srgbClr val="001F5F"/>
                </a:solidFill>
                <a:latin typeface="Times New Roman"/>
                <a:cs typeface="Times New Roman"/>
              </a:rPr>
              <a:t>OF</a:t>
            </a:r>
            <a:r>
              <a:rPr sz="2403" b="1" spc="-136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403" b="1" spc="-6" dirty="0">
                <a:solidFill>
                  <a:srgbClr val="001F5F"/>
                </a:solidFill>
                <a:latin typeface="Times New Roman"/>
                <a:cs typeface="Times New Roman"/>
              </a:rPr>
              <a:t>ENGINEERING</a:t>
            </a:r>
            <a:endParaRPr sz="2403" dirty="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357497" y="1643057"/>
            <a:ext cx="5191399" cy="2938931"/>
            <a:chOff x="5176392" y="3021583"/>
            <a:chExt cx="8208899" cy="4647184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76392" y="3021583"/>
              <a:ext cx="8208899" cy="464718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52045" y="4570270"/>
              <a:ext cx="7657591" cy="255066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4293784" y="3173835"/>
            <a:ext cx="3606198" cy="358527"/>
          </a:xfrm>
          <a:prstGeom prst="rect">
            <a:avLst/>
          </a:prstGeom>
        </p:spPr>
        <p:txBody>
          <a:bodyPr vert="horz" wrap="square" lIns="0" tIns="8032" rIns="0" bIns="0" rtlCol="0">
            <a:spAutoFit/>
          </a:bodyPr>
          <a:lstStyle/>
          <a:p>
            <a:pPr marL="8031">
              <a:spcBef>
                <a:spcPts val="63"/>
              </a:spcBef>
            </a:pPr>
            <a:r>
              <a:rPr lang="en-IN" sz="2277" dirty="0">
                <a:solidFill>
                  <a:schemeClr val="bg1"/>
                </a:solidFill>
                <a:latin typeface="Times New Roman"/>
                <a:cs typeface="Times New Roman"/>
              </a:rPr>
              <a:t>Probability and Statistics</a:t>
            </a:r>
            <a:endParaRPr sz="227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02378" y="5275228"/>
            <a:ext cx="3640332" cy="756579"/>
            <a:chOff x="6803135" y="8269223"/>
            <a:chExt cx="5756275" cy="1196340"/>
          </a:xfrm>
        </p:grpSpPr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803135" y="8298192"/>
              <a:ext cx="5756148" cy="10987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53299" y="8269223"/>
              <a:ext cx="4724400" cy="119634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841870" y="8316848"/>
              <a:ext cx="5679312" cy="102154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841870" y="8316848"/>
              <a:ext cx="5679440" cy="1021715"/>
            </a:xfrm>
            <a:custGeom>
              <a:avLst/>
              <a:gdLst/>
              <a:ahLst/>
              <a:cxnLst/>
              <a:rect l="l" t="t" r="r" b="b"/>
              <a:pathLst>
                <a:path w="5679440" h="1021715">
                  <a:moveTo>
                    <a:pt x="0" y="170306"/>
                  </a:moveTo>
                  <a:lnTo>
                    <a:pt x="6079" y="125015"/>
                  </a:lnTo>
                  <a:lnTo>
                    <a:pt x="23236" y="84328"/>
                  </a:lnTo>
                  <a:lnTo>
                    <a:pt x="49847" y="49863"/>
                  </a:lnTo>
                  <a:lnTo>
                    <a:pt x="84290" y="23241"/>
                  </a:lnTo>
                  <a:lnTo>
                    <a:pt x="124942" y="6080"/>
                  </a:lnTo>
                  <a:lnTo>
                    <a:pt x="170179" y="0"/>
                  </a:lnTo>
                  <a:lnTo>
                    <a:pt x="5509133" y="0"/>
                  </a:lnTo>
                  <a:lnTo>
                    <a:pt x="5554370" y="6080"/>
                  </a:lnTo>
                  <a:lnTo>
                    <a:pt x="5595022" y="23240"/>
                  </a:lnTo>
                  <a:lnTo>
                    <a:pt x="5629465" y="49863"/>
                  </a:lnTo>
                  <a:lnTo>
                    <a:pt x="5656076" y="84327"/>
                  </a:lnTo>
                  <a:lnTo>
                    <a:pt x="5673233" y="125015"/>
                  </a:lnTo>
                  <a:lnTo>
                    <a:pt x="5679312" y="170306"/>
                  </a:lnTo>
                  <a:lnTo>
                    <a:pt x="5679312" y="851281"/>
                  </a:lnTo>
                  <a:lnTo>
                    <a:pt x="5673233" y="896543"/>
                  </a:lnTo>
                  <a:lnTo>
                    <a:pt x="5656076" y="937216"/>
                  </a:lnTo>
                  <a:lnTo>
                    <a:pt x="5629465" y="971677"/>
                  </a:lnTo>
                  <a:lnTo>
                    <a:pt x="5595022" y="998301"/>
                  </a:lnTo>
                  <a:lnTo>
                    <a:pt x="5554370" y="1015467"/>
                  </a:lnTo>
                  <a:lnTo>
                    <a:pt x="5509133" y="1021549"/>
                  </a:lnTo>
                  <a:lnTo>
                    <a:pt x="170179" y="1021549"/>
                  </a:lnTo>
                  <a:lnTo>
                    <a:pt x="124942" y="1015467"/>
                  </a:lnTo>
                  <a:lnTo>
                    <a:pt x="84290" y="998301"/>
                  </a:lnTo>
                  <a:lnTo>
                    <a:pt x="49847" y="971676"/>
                  </a:lnTo>
                  <a:lnTo>
                    <a:pt x="23236" y="937216"/>
                  </a:lnTo>
                  <a:lnTo>
                    <a:pt x="6079" y="896543"/>
                  </a:lnTo>
                  <a:lnTo>
                    <a:pt x="0" y="851281"/>
                  </a:lnTo>
                  <a:lnTo>
                    <a:pt x="0" y="170306"/>
                  </a:lnTo>
                  <a:close/>
                </a:path>
              </a:pathLst>
            </a:custGeom>
            <a:ln w="9525">
              <a:solidFill>
                <a:srgbClr val="97B853"/>
              </a:solidFill>
            </a:ln>
          </p:spPr>
          <p:txBody>
            <a:bodyPr wrap="square" lIns="0" tIns="0" rIns="0" bIns="0" rtlCol="0"/>
            <a:lstStyle/>
            <a:p>
              <a:endParaRPr sz="1138"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775842" y="5349923"/>
            <a:ext cx="2693806" cy="533639"/>
          </a:xfrm>
          <a:prstGeom prst="rect">
            <a:avLst/>
          </a:prstGeom>
        </p:spPr>
        <p:txBody>
          <a:bodyPr vert="horz" wrap="square" lIns="0" tIns="8032" rIns="0" bIns="0" rtlCol="0">
            <a:spAutoFit/>
          </a:bodyPr>
          <a:lstStyle/>
          <a:p>
            <a:pPr marL="635289">
              <a:spcBef>
                <a:spcPts val="63"/>
              </a:spcBef>
            </a:pPr>
            <a:r>
              <a:rPr sz="2024" b="1" dirty="0">
                <a:solidFill>
                  <a:srgbClr val="001F5F"/>
                </a:solidFill>
                <a:latin typeface="Times New Roman"/>
                <a:cs typeface="Times New Roman"/>
              </a:rPr>
              <a:t>A.Y.</a:t>
            </a:r>
            <a:r>
              <a:rPr sz="2024" b="1" spc="-3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024" b="1" dirty="0">
                <a:solidFill>
                  <a:srgbClr val="001F5F"/>
                </a:solidFill>
                <a:latin typeface="Times New Roman"/>
                <a:cs typeface="Times New Roman"/>
              </a:rPr>
              <a:t>202</a:t>
            </a:r>
            <a:r>
              <a:rPr lang="en-IN" sz="2024" b="1" dirty="0">
                <a:solidFill>
                  <a:srgbClr val="001F5F"/>
                </a:solidFill>
                <a:latin typeface="Times New Roman"/>
                <a:cs typeface="Times New Roman"/>
              </a:rPr>
              <a:t>4</a:t>
            </a:r>
            <a:r>
              <a:rPr sz="2024" b="1" dirty="0">
                <a:solidFill>
                  <a:srgbClr val="001F5F"/>
                </a:solidFill>
                <a:latin typeface="Times New Roman"/>
                <a:cs typeface="Times New Roman"/>
              </a:rPr>
              <a:t>-</a:t>
            </a:r>
            <a:r>
              <a:rPr sz="2024" b="1" spc="-16" dirty="0">
                <a:solidFill>
                  <a:srgbClr val="001F5F"/>
                </a:solidFill>
                <a:latin typeface="Times New Roman"/>
                <a:cs typeface="Times New Roman"/>
              </a:rPr>
              <a:t>2</a:t>
            </a:r>
            <a:r>
              <a:rPr lang="en-IN" sz="2024" b="1" spc="-16" dirty="0">
                <a:solidFill>
                  <a:srgbClr val="001F5F"/>
                </a:solidFill>
                <a:latin typeface="Times New Roman"/>
                <a:cs typeface="Times New Roman"/>
              </a:rPr>
              <a:t>5</a:t>
            </a:r>
            <a:endParaRPr sz="2024" dirty="0">
              <a:latin typeface="Times New Roman"/>
              <a:cs typeface="Times New Roman"/>
            </a:endParaRPr>
          </a:p>
          <a:p>
            <a:pPr marL="8031">
              <a:spcBef>
                <a:spcPts val="19"/>
              </a:spcBef>
            </a:pPr>
            <a:r>
              <a:rPr sz="1391" b="1" dirty="0">
                <a:solidFill>
                  <a:srgbClr val="001F5F"/>
                </a:solidFill>
                <a:latin typeface="Times New Roman"/>
                <a:cs typeface="Times New Roman"/>
              </a:rPr>
              <a:t>Freshmen</a:t>
            </a:r>
            <a:r>
              <a:rPr sz="1391" b="1" spc="-54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391" b="1" dirty="0">
                <a:solidFill>
                  <a:srgbClr val="001F5F"/>
                </a:solidFill>
                <a:latin typeface="Times New Roman"/>
                <a:cs typeface="Times New Roman"/>
              </a:rPr>
              <a:t>Engineering</a:t>
            </a:r>
            <a:r>
              <a:rPr sz="1391" b="1" spc="-63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1391" b="1" spc="-6" dirty="0">
                <a:solidFill>
                  <a:srgbClr val="001F5F"/>
                </a:solidFill>
                <a:latin typeface="Times New Roman"/>
                <a:cs typeface="Times New Roman"/>
              </a:rPr>
              <a:t>Department</a:t>
            </a:r>
            <a:endParaRPr sz="1391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B87D2-784D-ACA8-7D6F-5D69A025B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771109A2-A506-8EBC-B8A9-B59B7F16B9EC}"/>
              </a:ext>
            </a:extLst>
          </p:cNvPr>
          <p:cNvSpPr/>
          <p:nvPr/>
        </p:nvSpPr>
        <p:spPr>
          <a:xfrm>
            <a:off x="1612829" y="2337984"/>
            <a:ext cx="48190" cy="114049"/>
          </a:xfrm>
          <a:custGeom>
            <a:avLst/>
            <a:gdLst/>
            <a:ahLst/>
            <a:cxnLst/>
            <a:rect l="l" t="t" r="r" b="b"/>
            <a:pathLst>
              <a:path w="76200" h="180339">
                <a:moveTo>
                  <a:pt x="76200" y="0"/>
                </a:moveTo>
                <a:lnTo>
                  <a:pt x="0" y="0"/>
                </a:lnTo>
                <a:lnTo>
                  <a:pt x="0" y="179831"/>
                </a:lnTo>
                <a:lnTo>
                  <a:pt x="76200" y="179831"/>
                </a:lnTo>
                <a:lnTo>
                  <a:pt x="7620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 sz="1138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4EE8042-BC14-D2F0-16C8-28F379DFA5C0}"/>
              </a:ext>
            </a:extLst>
          </p:cNvPr>
          <p:cNvSpPr/>
          <p:nvPr/>
        </p:nvSpPr>
        <p:spPr>
          <a:xfrm>
            <a:off x="1799805" y="3214234"/>
            <a:ext cx="24095" cy="115655"/>
          </a:xfrm>
          <a:custGeom>
            <a:avLst/>
            <a:gdLst/>
            <a:ahLst/>
            <a:cxnLst/>
            <a:rect l="l" t="t" r="r" b="b"/>
            <a:pathLst>
              <a:path w="38100" h="182879">
                <a:moveTo>
                  <a:pt x="38100" y="0"/>
                </a:moveTo>
                <a:lnTo>
                  <a:pt x="0" y="0"/>
                </a:lnTo>
                <a:lnTo>
                  <a:pt x="0" y="182879"/>
                </a:lnTo>
                <a:lnTo>
                  <a:pt x="38100" y="182879"/>
                </a:lnTo>
                <a:lnTo>
                  <a:pt x="38100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 sz="1138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0D7325A-B9E3-1DDC-2D85-22F38618646D}"/>
              </a:ext>
            </a:extLst>
          </p:cNvPr>
          <p:cNvSpPr/>
          <p:nvPr/>
        </p:nvSpPr>
        <p:spPr>
          <a:xfrm>
            <a:off x="2946882" y="3214234"/>
            <a:ext cx="112041" cy="115655"/>
          </a:xfrm>
          <a:custGeom>
            <a:avLst/>
            <a:gdLst/>
            <a:ahLst/>
            <a:cxnLst/>
            <a:rect l="l" t="t" r="r" b="b"/>
            <a:pathLst>
              <a:path w="177164" h="182879">
                <a:moveTo>
                  <a:pt x="176784" y="0"/>
                </a:moveTo>
                <a:lnTo>
                  <a:pt x="0" y="0"/>
                </a:lnTo>
                <a:lnTo>
                  <a:pt x="0" y="182879"/>
                </a:lnTo>
                <a:lnTo>
                  <a:pt x="176784" y="182879"/>
                </a:lnTo>
                <a:lnTo>
                  <a:pt x="176784" y="0"/>
                </a:lnTo>
                <a:close/>
              </a:path>
            </a:pathLst>
          </a:custGeom>
          <a:solidFill>
            <a:srgbClr val="F7F7F7"/>
          </a:solidFill>
        </p:spPr>
        <p:txBody>
          <a:bodyPr wrap="square" lIns="0" tIns="0" rIns="0" bIns="0" rtlCol="0"/>
          <a:lstStyle/>
          <a:p>
            <a:endParaRPr sz="1138"/>
          </a:p>
        </p:txBody>
      </p:sp>
      <p:pic>
        <p:nvPicPr>
          <p:cNvPr id="7" name="object 2">
            <a:extLst>
              <a:ext uri="{FF2B5EF4-FFF2-40B4-BE49-F238E27FC236}">
                <a16:creationId xmlns:a16="http://schemas.microsoft.com/office/drawing/2014/main" id="{32FDBB83-626F-8D4D-4D3C-08CD79CF65F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12344" y="273477"/>
            <a:ext cx="7567313" cy="6002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A574AB-8609-3202-DEB5-D529CAAA159C}"/>
              </a:ext>
            </a:extLst>
          </p:cNvPr>
          <p:cNvSpPr txBox="1"/>
          <p:nvPr/>
        </p:nvSpPr>
        <p:spPr>
          <a:xfrm>
            <a:off x="4390818" y="369216"/>
            <a:ext cx="4620660" cy="442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31">
              <a:spcBef>
                <a:spcPts val="63"/>
              </a:spcBef>
            </a:pPr>
            <a:r>
              <a:rPr lang="en-US" sz="2277" b="1" u="sng" spc="-25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I</a:t>
            </a:r>
            <a:r>
              <a:rPr lang="en-US" sz="2277" b="1" u="sng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mportance</a:t>
            </a:r>
            <a:r>
              <a:rPr lang="en-US" sz="2277" b="1" u="sng" spc="-22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2277" b="1" u="sng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of</a:t>
            </a:r>
            <a:r>
              <a:rPr lang="en-US" sz="2277" b="1" u="sng" spc="-13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2277" b="1" u="sng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lang="en-US" sz="2277" b="1" u="sng" spc="-25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US" sz="2277" b="1" u="sng" spc="-6" dirty="0">
                <a:solidFill>
                  <a:schemeClr val="bg1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course</a:t>
            </a:r>
            <a:endParaRPr lang="en-US" sz="2277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FF2542-2D8C-8C2F-C2DB-AE1F2EC3C9F5}"/>
              </a:ext>
            </a:extLst>
          </p:cNvPr>
          <p:cNvSpPr txBox="1"/>
          <p:nvPr/>
        </p:nvSpPr>
        <p:spPr>
          <a:xfrm>
            <a:off x="1325218" y="1063313"/>
            <a:ext cx="10281176" cy="1019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6"/>
              </a:spcAft>
            </a:pPr>
            <a:r>
              <a:rPr lang="en-IN" sz="2783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➡️ </a:t>
            </a:r>
            <a:r>
              <a:rPr lang="en-IN" sz="2783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do you think mathematics is important in engineering?</a:t>
            </a:r>
          </a:p>
          <a:p>
            <a:pPr>
              <a:lnSpc>
                <a:spcPct val="115000"/>
              </a:lnSpc>
              <a:spcAft>
                <a:spcPts val="506"/>
              </a:spcAft>
            </a:pPr>
            <a:r>
              <a:rPr lang="en-IN" sz="22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endParaRPr lang="en-IN" sz="2277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637DBDF-EA53-604B-C3FE-09DC5CB48B81}"/>
              </a:ext>
            </a:extLst>
          </p:cNvPr>
          <p:cNvSpPr/>
          <p:nvPr/>
        </p:nvSpPr>
        <p:spPr>
          <a:xfrm>
            <a:off x="4390819" y="1789858"/>
            <a:ext cx="3102724" cy="96379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36" dirty="0">
                <a:latin typeface="Times New Roman" panose="02020603050405020304" pitchFamily="18" charset="0"/>
                <a:ea typeface="HP Simplified Hans Light" panose="020B0300000000000000" pitchFamily="34" charset="-122"/>
                <a:cs typeface="Times New Roman" panose="02020603050405020304" pitchFamily="18" charset="0"/>
              </a:rPr>
              <a:t>Mathematics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CF65FB6-6A27-1E4F-45CD-24B420629D06}"/>
              </a:ext>
            </a:extLst>
          </p:cNvPr>
          <p:cNvSpPr/>
          <p:nvPr/>
        </p:nvSpPr>
        <p:spPr>
          <a:xfrm>
            <a:off x="5682983" y="2803097"/>
            <a:ext cx="481897" cy="5762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38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D3F2B8-F085-53FB-2D12-FDAA94EBDAF5}"/>
              </a:ext>
            </a:extLst>
          </p:cNvPr>
          <p:cNvSpPr/>
          <p:nvPr/>
        </p:nvSpPr>
        <p:spPr>
          <a:xfrm>
            <a:off x="4440319" y="3312449"/>
            <a:ext cx="2961049" cy="7671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7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fields</a:t>
            </a:r>
            <a:endParaRPr lang="en-IN" sz="2783" dirty="0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C8665139-3175-CAE6-2DA9-18444375DA69}"/>
              </a:ext>
            </a:extLst>
          </p:cNvPr>
          <p:cNvSpPr/>
          <p:nvPr/>
        </p:nvSpPr>
        <p:spPr>
          <a:xfrm flipH="1">
            <a:off x="5722007" y="4093008"/>
            <a:ext cx="373991" cy="14975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138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D22CC75-DE9B-9C93-6D0C-CE80100049F4}"/>
              </a:ext>
            </a:extLst>
          </p:cNvPr>
          <p:cNvCxnSpPr>
            <a:cxnSpLocks/>
          </p:cNvCxnSpPr>
          <p:nvPr/>
        </p:nvCxnSpPr>
        <p:spPr>
          <a:xfrm flipV="1">
            <a:off x="2462546" y="4229341"/>
            <a:ext cx="7192791" cy="26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2FF4D21-382D-409D-AB40-2DF2125E1542}"/>
              </a:ext>
            </a:extLst>
          </p:cNvPr>
          <p:cNvCxnSpPr/>
          <p:nvPr/>
        </p:nvCxnSpPr>
        <p:spPr>
          <a:xfrm>
            <a:off x="2471032" y="4242765"/>
            <a:ext cx="0" cy="388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A8A0DE6-15E0-03EB-CA2D-B5AE0B3B6690}"/>
              </a:ext>
            </a:extLst>
          </p:cNvPr>
          <p:cNvCxnSpPr>
            <a:cxnSpLocks/>
          </p:cNvCxnSpPr>
          <p:nvPr/>
        </p:nvCxnSpPr>
        <p:spPr>
          <a:xfrm>
            <a:off x="9655337" y="4215917"/>
            <a:ext cx="15714" cy="554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E2BF68A-CFCE-C7D6-30F2-13EAB1A1A2A4}"/>
              </a:ext>
            </a:extLst>
          </p:cNvPr>
          <p:cNvCxnSpPr>
            <a:cxnSpLocks/>
          </p:cNvCxnSpPr>
          <p:nvPr/>
        </p:nvCxnSpPr>
        <p:spPr>
          <a:xfrm>
            <a:off x="5903241" y="3596545"/>
            <a:ext cx="17601" cy="360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F173105B-2A35-C3BD-99D7-7A93356FE639}"/>
              </a:ext>
            </a:extLst>
          </p:cNvPr>
          <p:cNvSpPr/>
          <p:nvPr/>
        </p:nvSpPr>
        <p:spPr>
          <a:xfrm>
            <a:off x="1049438" y="4629004"/>
            <a:ext cx="2843187" cy="12996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Circuits</a:t>
            </a:r>
            <a:endParaRPr lang="en-IN" sz="3036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425FAF1-5858-EF7F-0D3F-5A88183EAB9D}"/>
              </a:ext>
            </a:extLst>
          </p:cNvPr>
          <p:cNvSpPr/>
          <p:nvPr/>
        </p:nvSpPr>
        <p:spPr>
          <a:xfrm>
            <a:off x="8204825" y="4722094"/>
            <a:ext cx="2942975" cy="12996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78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Studying Mechanical Vibrations</a:t>
            </a:r>
            <a:endParaRPr lang="en-IN" sz="2783" dirty="0"/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1495265-9AAD-828E-A62C-CBDFEF6E79CC}"/>
              </a:ext>
            </a:extLst>
          </p:cNvPr>
          <p:cNvCxnSpPr>
            <a:stCxn id="15" idx="2"/>
          </p:cNvCxnSpPr>
          <p:nvPr/>
        </p:nvCxnSpPr>
        <p:spPr>
          <a:xfrm>
            <a:off x="5909002" y="4242764"/>
            <a:ext cx="11841" cy="386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49E14FB8-31FD-D291-0DCE-4AB641049D64}"/>
              </a:ext>
            </a:extLst>
          </p:cNvPr>
          <p:cNvSpPr/>
          <p:nvPr/>
        </p:nvSpPr>
        <p:spPr>
          <a:xfrm>
            <a:off x="4440319" y="4655852"/>
            <a:ext cx="3053224" cy="127282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3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Analysing Signals </a:t>
            </a:r>
            <a:endParaRPr lang="en-IN" sz="3036" dirty="0"/>
          </a:p>
        </p:txBody>
      </p:sp>
    </p:spTree>
    <p:extLst>
      <p:ext uri="{BB962C8B-B14F-4D97-AF65-F5344CB8AC3E}">
        <p14:creationId xmlns:p14="http://schemas.microsoft.com/office/powerpoint/2010/main" val="1718101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3972" y="306996"/>
            <a:ext cx="3865780" cy="638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246149"/>
            <a:ext cx="8422546" cy="514239"/>
          </a:xfrm>
          <a:prstGeom prst="rect">
            <a:avLst/>
          </a:prstGeom>
        </p:spPr>
        <p:txBody>
          <a:bodyPr vert="horz" wrap="square" lIns="0" tIns="162238" rIns="0" bIns="0" rtlCol="0" anchor="ctr">
            <a:spAutoFit/>
          </a:bodyPr>
          <a:lstStyle/>
          <a:p>
            <a:pPr marL="4254275">
              <a:lnSpc>
                <a:spcPct val="100000"/>
              </a:lnSpc>
              <a:spcBef>
                <a:spcPts val="63"/>
              </a:spcBef>
            </a:pPr>
            <a:r>
              <a:rPr lang="en-IN" sz="2277" spc="-6" dirty="0"/>
              <a:t>Importance of the Course</a:t>
            </a:r>
            <a:endParaRPr sz="2277" dirty="0"/>
          </a:p>
        </p:txBody>
      </p:sp>
      <p:sp>
        <p:nvSpPr>
          <p:cNvPr id="6" name="object 6"/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3BCA4E-DF3F-6EB8-1B79-F99917294CCA}"/>
              </a:ext>
            </a:extLst>
          </p:cNvPr>
          <p:cNvSpPr txBox="1"/>
          <p:nvPr/>
        </p:nvSpPr>
        <p:spPr>
          <a:xfrm>
            <a:off x="1851786" y="1131595"/>
            <a:ext cx="812893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and statistics are important in engineering because they help us understand and manage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uncertainty in real situations.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things in engineering — like loads, signals, failures, or delays — are unpredictable, 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helps measure these risks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Statistics helps engineers </a:t>
            </a:r>
            <a:r>
              <a:rPr lang="en-US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better decisions by using data to design systems that are safer, stronger, and more efficient. 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concepts are used everywhere in engineering, such as quality control in factories, reliability of machines, communication system performance, machine learning, traffic and network analysis, and project planning.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Example : Mobile Network Signal Strength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move, your mobile signal becomes strong or weak unexpectedly.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collect signal data, analyze it statistically, and calculate the probability of call drops or errors.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this, they design better towers and improve network coverage.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03762" y="304858"/>
            <a:ext cx="3865780" cy="63899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87900" y="304858"/>
            <a:ext cx="7181642" cy="533154"/>
          </a:xfrm>
          <a:prstGeom prst="rect">
            <a:avLst/>
          </a:prstGeom>
        </p:spPr>
        <p:txBody>
          <a:bodyPr vert="horz" wrap="square" lIns="0" tIns="162238" rIns="0" bIns="0" rtlCol="0" anchor="ctr">
            <a:spAutoFit/>
          </a:bodyPr>
          <a:lstStyle/>
          <a:p>
            <a:pPr marL="4254275">
              <a:lnSpc>
                <a:spcPct val="100000"/>
              </a:lnSpc>
              <a:spcBef>
                <a:spcPts val="63"/>
              </a:spcBef>
            </a:pPr>
            <a:r>
              <a:rPr lang="en-IN" sz="2400" b="1" dirty="0">
                <a:latin typeface="Times New Roman"/>
                <a:cs typeface="Times New Roman"/>
              </a:rPr>
              <a:t>Course</a:t>
            </a:r>
            <a:r>
              <a:rPr lang="en-IN" sz="2400" b="1" spc="-22" dirty="0">
                <a:latin typeface="Times New Roman"/>
                <a:cs typeface="Times New Roman"/>
              </a:rPr>
              <a:t> </a:t>
            </a:r>
            <a:r>
              <a:rPr lang="en-IN" sz="2400" b="1" dirty="0">
                <a:latin typeface="Times New Roman"/>
                <a:cs typeface="Times New Roman"/>
              </a:rPr>
              <a:t>Outcomes</a:t>
            </a:r>
            <a:endParaRPr sz="2277" dirty="0"/>
          </a:p>
        </p:txBody>
      </p:sp>
      <p:sp>
        <p:nvSpPr>
          <p:cNvPr id="6" name="object 6"/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65376" y="1467357"/>
            <a:ext cx="7365398" cy="329289"/>
          </a:xfrm>
          <a:prstGeom prst="rect">
            <a:avLst/>
          </a:prstGeom>
        </p:spPr>
        <p:txBody>
          <a:bodyPr vert="horz" wrap="square" lIns="0" tIns="8032" rIns="0" bIns="0" rtlCol="0">
            <a:spAutoFit/>
          </a:bodyPr>
          <a:lstStyle/>
          <a:p>
            <a:pPr marL="8031">
              <a:spcBef>
                <a:spcPts val="63"/>
              </a:spcBef>
            </a:pPr>
            <a:r>
              <a:rPr sz="2087" b="1" dirty="0">
                <a:latin typeface="Times New Roman"/>
                <a:cs typeface="Times New Roman"/>
              </a:rPr>
              <a:t>Course</a:t>
            </a:r>
            <a:r>
              <a:rPr sz="2087" b="1" spc="-22" dirty="0">
                <a:latin typeface="Times New Roman"/>
                <a:cs typeface="Times New Roman"/>
              </a:rPr>
              <a:t> </a:t>
            </a:r>
            <a:r>
              <a:rPr sz="2087" b="1" dirty="0">
                <a:latin typeface="Times New Roman"/>
                <a:cs typeface="Times New Roman"/>
              </a:rPr>
              <a:t>Outcomes:</a:t>
            </a:r>
            <a:r>
              <a:rPr sz="2087" b="1" spc="-16" dirty="0">
                <a:latin typeface="Times New Roman"/>
                <a:cs typeface="Times New Roman"/>
              </a:rPr>
              <a:t> </a:t>
            </a:r>
            <a:r>
              <a:rPr sz="2087" dirty="0">
                <a:latin typeface="Times New Roman"/>
                <a:cs typeface="Times New Roman"/>
              </a:rPr>
              <a:t>At</a:t>
            </a:r>
            <a:r>
              <a:rPr sz="2087" spc="-16" dirty="0">
                <a:latin typeface="Times New Roman"/>
                <a:cs typeface="Times New Roman"/>
              </a:rPr>
              <a:t> </a:t>
            </a:r>
            <a:r>
              <a:rPr sz="2087" dirty="0">
                <a:latin typeface="Times New Roman"/>
                <a:cs typeface="Times New Roman"/>
              </a:rPr>
              <a:t>the</a:t>
            </a:r>
            <a:r>
              <a:rPr sz="2087" spc="-16" dirty="0">
                <a:latin typeface="Times New Roman"/>
                <a:cs typeface="Times New Roman"/>
              </a:rPr>
              <a:t> </a:t>
            </a:r>
            <a:r>
              <a:rPr sz="2087" dirty="0">
                <a:latin typeface="Times New Roman"/>
                <a:cs typeface="Times New Roman"/>
              </a:rPr>
              <a:t>end</a:t>
            </a:r>
            <a:r>
              <a:rPr sz="2087" spc="-28" dirty="0">
                <a:latin typeface="Times New Roman"/>
                <a:cs typeface="Times New Roman"/>
              </a:rPr>
              <a:t> </a:t>
            </a:r>
            <a:r>
              <a:rPr sz="2087" dirty="0">
                <a:latin typeface="Times New Roman"/>
                <a:cs typeface="Times New Roman"/>
              </a:rPr>
              <a:t>of</a:t>
            </a:r>
            <a:r>
              <a:rPr sz="2087" spc="-13" dirty="0">
                <a:latin typeface="Times New Roman"/>
                <a:cs typeface="Times New Roman"/>
              </a:rPr>
              <a:t> </a:t>
            </a:r>
            <a:r>
              <a:rPr sz="2087" dirty="0">
                <a:latin typeface="Times New Roman"/>
                <a:cs typeface="Times New Roman"/>
              </a:rPr>
              <a:t>the</a:t>
            </a:r>
            <a:r>
              <a:rPr sz="2087" spc="-16" dirty="0">
                <a:latin typeface="Times New Roman"/>
                <a:cs typeface="Times New Roman"/>
              </a:rPr>
              <a:t> </a:t>
            </a:r>
            <a:r>
              <a:rPr sz="2087" dirty="0">
                <a:latin typeface="Times New Roman"/>
                <a:cs typeface="Times New Roman"/>
              </a:rPr>
              <a:t>Course,</a:t>
            </a:r>
            <a:r>
              <a:rPr sz="2087" spc="-16" dirty="0">
                <a:latin typeface="Times New Roman"/>
                <a:cs typeface="Times New Roman"/>
              </a:rPr>
              <a:t> </a:t>
            </a:r>
            <a:r>
              <a:rPr sz="2087" dirty="0">
                <a:latin typeface="Times New Roman"/>
                <a:cs typeface="Times New Roman"/>
              </a:rPr>
              <a:t>Student</a:t>
            </a:r>
            <a:r>
              <a:rPr sz="2087" spc="-35" dirty="0">
                <a:latin typeface="Times New Roman"/>
                <a:cs typeface="Times New Roman"/>
              </a:rPr>
              <a:t> </a:t>
            </a:r>
            <a:r>
              <a:rPr sz="2087" dirty="0">
                <a:latin typeface="Times New Roman"/>
                <a:cs typeface="Times New Roman"/>
              </a:rPr>
              <a:t>will</a:t>
            </a:r>
            <a:r>
              <a:rPr sz="2087" spc="-22" dirty="0">
                <a:latin typeface="Times New Roman"/>
                <a:cs typeface="Times New Roman"/>
              </a:rPr>
              <a:t> </a:t>
            </a:r>
            <a:r>
              <a:rPr sz="2087" dirty="0">
                <a:latin typeface="Times New Roman"/>
                <a:cs typeface="Times New Roman"/>
              </a:rPr>
              <a:t>be</a:t>
            </a:r>
            <a:r>
              <a:rPr sz="2087" spc="-16" dirty="0">
                <a:latin typeface="Times New Roman"/>
                <a:cs typeface="Times New Roman"/>
              </a:rPr>
              <a:t> </a:t>
            </a:r>
            <a:r>
              <a:rPr sz="2087" dirty="0">
                <a:latin typeface="Times New Roman"/>
                <a:cs typeface="Times New Roman"/>
              </a:rPr>
              <a:t>able</a:t>
            </a:r>
            <a:r>
              <a:rPr sz="2087" spc="-25" dirty="0">
                <a:latin typeface="Times New Roman"/>
                <a:cs typeface="Times New Roman"/>
              </a:rPr>
              <a:t> </a:t>
            </a:r>
            <a:r>
              <a:rPr sz="2087" spc="-16" dirty="0">
                <a:latin typeface="Times New Roman"/>
                <a:cs typeface="Times New Roman"/>
              </a:rPr>
              <a:t>to:</a:t>
            </a:r>
            <a:endParaRPr sz="2087" dirty="0">
              <a:latin typeface="Times New Roman"/>
              <a:cs typeface="Times New Roman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029003"/>
              </p:ext>
            </p:extLst>
          </p:nvPr>
        </p:nvGraphicFramePr>
        <p:xfrm>
          <a:off x="1317667" y="2204659"/>
          <a:ext cx="9062077" cy="3937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80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81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57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20"/>
                        </a:spcBef>
                      </a:pPr>
                      <a:r>
                        <a:rPr sz="21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CO1: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104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Apply Baye’s theorem </a:t>
                      </a:r>
                      <a:endParaRPr lang="en-IN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57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20"/>
                        </a:spcBef>
                      </a:pPr>
                      <a:r>
                        <a:rPr sz="21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CO2: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10428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Apply various Probability distributions for both discrete and continuous random variables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57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25"/>
                        </a:spcBef>
                      </a:pPr>
                      <a:r>
                        <a:rPr sz="21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CO3: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10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Compute mean and variance of sample means with replacement and without replacement and maximum errors.</a:t>
                      </a:r>
                    </a:p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7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25"/>
                        </a:spcBef>
                      </a:pPr>
                      <a:r>
                        <a:rPr sz="21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CO4: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10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Apply various tests to test the hypothesis concerning mean, Proportion, variance and attributes.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57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25"/>
                        </a:spcBef>
                      </a:pPr>
                      <a:r>
                        <a:rPr sz="21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CO5: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21083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Apply the concepts of correlation and regression to the given statistical data.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158" y="245864"/>
            <a:ext cx="3866750" cy="59562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37759" y="166365"/>
            <a:ext cx="6650182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sz="2277" spc="-6" dirty="0"/>
              <a:t>Syllabus</a:t>
            </a:r>
            <a:endParaRPr sz="2277" dirty="0"/>
          </a:p>
        </p:txBody>
      </p:sp>
      <p:sp>
        <p:nvSpPr>
          <p:cNvPr id="5" name="object 5"/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91354" y="962330"/>
            <a:ext cx="8809291" cy="5242825"/>
          </a:xfrm>
          <a:prstGeom prst="rect">
            <a:avLst/>
          </a:prstGeom>
        </p:spPr>
        <p:txBody>
          <a:bodyPr vert="horz" wrap="square" lIns="0" tIns="71481" rIns="0" bIns="0" rtlCol="0">
            <a:spAutoFit/>
          </a:bodyPr>
          <a:lstStyle/>
          <a:p>
            <a:pPr marL="8031">
              <a:spcBef>
                <a:spcPts val="563"/>
              </a:spcBef>
            </a:pPr>
            <a:r>
              <a:rPr sz="2400" b="1" dirty="0">
                <a:latin typeface="Times New Roman"/>
                <a:cs typeface="Times New Roman"/>
              </a:rPr>
              <a:t>UNIT</a:t>
            </a:r>
            <a:r>
              <a:rPr sz="2400" b="1" spc="-63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–</a:t>
            </a:r>
            <a:r>
              <a:rPr sz="2400" b="1" spc="-22" dirty="0">
                <a:latin typeface="Times New Roman"/>
                <a:cs typeface="Times New Roman"/>
              </a:rPr>
              <a:t> </a:t>
            </a:r>
            <a:r>
              <a:rPr sz="2400" b="1" spc="-32" dirty="0">
                <a:latin typeface="Times New Roman"/>
                <a:cs typeface="Times New Roman"/>
              </a:rPr>
              <a:t>I</a:t>
            </a:r>
            <a:r>
              <a:rPr lang="en-IN" sz="2400" b="1" spc="-32" dirty="0">
                <a:latin typeface="Times New Roman"/>
                <a:cs typeface="Times New Roman"/>
              </a:rPr>
              <a:t>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and Random Variables: 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– Conditional probability and Baye’s Theorem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variables – Discrete and Continuous random variables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Expectation, Variance and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 generating function.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Practice(Using any computational tool):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Calculation of Mean and Variance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– II: Probability Distributions: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function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Binomial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Poisson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Exponential distributions.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Practice(Using any computational tool):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and continuous probability distributions (Binomial, Poisson, normal and exponential distributions)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70F6B-CCE8-40E8-3889-4584331C3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7C7F0AD-3737-8AE0-3BD7-4028C3E0FAA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158" y="245864"/>
            <a:ext cx="3866750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B8081F65-EDD1-3821-C378-F7A248B09C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7759" y="166365"/>
            <a:ext cx="6650182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sz="2277" spc="-6" dirty="0"/>
              <a:t>Syllabus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0FAD74C-C3B5-581A-525D-DD1BB1C35F6C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E10EB26-5967-C569-2208-35966048FC43}"/>
              </a:ext>
            </a:extLst>
          </p:cNvPr>
          <p:cNvSpPr txBox="1"/>
          <p:nvPr/>
        </p:nvSpPr>
        <p:spPr>
          <a:xfrm>
            <a:off x="1300294" y="841488"/>
            <a:ext cx="10101474" cy="5919934"/>
          </a:xfrm>
          <a:prstGeom prst="rect">
            <a:avLst/>
          </a:prstGeom>
        </p:spPr>
        <p:txBody>
          <a:bodyPr vert="horz" wrap="square" lIns="0" tIns="71481" rIns="0" bIns="0" rtlCol="0">
            <a:spAutoFit/>
          </a:bodyPr>
          <a:lstStyle/>
          <a:p>
            <a:r>
              <a:rPr sz="2000" b="1" dirty="0">
                <a:latin typeface="Times New Roman"/>
                <a:cs typeface="Times New Roman"/>
              </a:rPr>
              <a:t>UNIT</a:t>
            </a:r>
            <a:r>
              <a:rPr sz="2000" b="1" spc="-63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–</a:t>
            </a:r>
            <a:r>
              <a:rPr sz="2000" b="1" spc="-22" dirty="0">
                <a:latin typeface="Times New Roman"/>
                <a:cs typeface="Times New Roman"/>
              </a:rPr>
              <a:t> </a:t>
            </a:r>
            <a:r>
              <a:rPr sz="2000" b="1" spc="-32" dirty="0">
                <a:latin typeface="Times New Roman"/>
                <a:cs typeface="Times New Roman"/>
              </a:rPr>
              <a:t>I</a:t>
            </a:r>
            <a:r>
              <a:rPr lang="en-IN" sz="2000" b="1" spc="-32" dirty="0">
                <a:latin typeface="Times New Roman"/>
                <a:cs typeface="Times New Roman"/>
              </a:rPr>
              <a:t>II: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 and Sampling Theory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Analytics: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–Collection of data – primary and secondary data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variables: dependent and independent Categorical and Continuous variables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visualisation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of Central tendency(Mean, mode and median)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Measures of Variability (spread or variance).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Theory: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Population and samples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Sampling distribution of Means and Variance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limit theorem (without proof)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Point and Interval estimations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Maximum error of estimate.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Practice(Using any computational tool):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Finding measures of variability and central tendency (mean, median, mode, arithmetic mean, geometric mean, Variance)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visualisation (Construction of bar charts, pie charts).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Construction of confidence intervals</a:t>
            </a:r>
          </a:p>
        </p:txBody>
      </p:sp>
    </p:spTree>
    <p:extLst>
      <p:ext uri="{BB962C8B-B14F-4D97-AF65-F5344CB8AC3E}">
        <p14:creationId xmlns:p14="http://schemas.microsoft.com/office/powerpoint/2010/main" val="198583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264E0-883C-EFEB-3E07-1FA1A9C61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40D92A4-1882-3785-7F25-0F5E21CEDF4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158" y="245864"/>
            <a:ext cx="3866750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390F2B3-C852-207E-8D82-D83911ED2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7759" y="166365"/>
            <a:ext cx="6650182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sz="2277" spc="-6" dirty="0"/>
              <a:t>Syllabus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D18E10D-3C5F-1540-9530-664978BCF36F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B7D71EEF-9BF9-3E5C-F20A-75DF4D15C849}"/>
              </a:ext>
            </a:extLst>
          </p:cNvPr>
          <p:cNvSpPr txBox="1"/>
          <p:nvPr/>
        </p:nvSpPr>
        <p:spPr>
          <a:xfrm>
            <a:off x="1691354" y="962330"/>
            <a:ext cx="8809291" cy="4581106"/>
          </a:xfrm>
          <a:prstGeom prst="rect">
            <a:avLst/>
          </a:prstGeom>
        </p:spPr>
        <p:txBody>
          <a:bodyPr vert="horz" wrap="square" lIns="0" tIns="71481" rIns="0" bIns="0" rtlCol="0">
            <a:spAutoFit/>
          </a:bodyPr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sz="2400" b="1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b="1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b="1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V: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Tests of Hypothesis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– Hypothesis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 and Alternative Hypothesis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I and Type II errors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Level of significance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tail and two-tail tests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Tests concerning one mean and two means (Large and Small samples)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Tests on proportions, Chi-Square and F test.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Practice(Using any computational tool):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Z-test, t-test and Chi-square test</a:t>
            </a:r>
          </a:p>
          <a:p>
            <a:pPr marL="8031">
              <a:spcBef>
                <a:spcPts val="563"/>
              </a:spcBef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642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AFFB-3372-1DF0-EC65-7704EFF92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22B6270-B39C-19E0-2332-6C501B6163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158" y="245864"/>
            <a:ext cx="3866750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25D08C6A-99A9-E252-8D98-A607A6B413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7759" y="166365"/>
            <a:ext cx="6650182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sz="2277" spc="-6" dirty="0"/>
              <a:t>Syllabus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2B329B04-361C-12D1-79B1-FF5A5528ECB1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3D3961FF-EEDA-2ADF-2786-8227F28AA3C7}"/>
              </a:ext>
            </a:extLst>
          </p:cNvPr>
          <p:cNvSpPr txBox="1"/>
          <p:nvPr/>
        </p:nvSpPr>
        <p:spPr>
          <a:xfrm>
            <a:off x="1691354" y="962330"/>
            <a:ext cx="8809291" cy="3765498"/>
          </a:xfrm>
          <a:prstGeom prst="rect">
            <a:avLst/>
          </a:prstGeom>
        </p:spPr>
        <p:txBody>
          <a:bodyPr vert="horz" wrap="square" lIns="0" tIns="71481" rIns="0" bIns="0" rtlCol="0">
            <a:spAutoFit/>
          </a:bodyPr>
          <a:lstStyle/>
          <a:p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</a:t>
            </a:r>
            <a:r>
              <a:rPr sz="2400" b="1" spc="-6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2400" b="1" spc="-22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32" dirty="0">
                <a:latin typeface="Times New Roman" panose="02020603050405020304" pitchFamily="18" charset="0"/>
                <a:cs typeface="Times New Roman" panose="02020603050405020304" pitchFamily="18" charset="0"/>
              </a:rPr>
              <a:t>V: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and Regression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of least squares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Straight line - nonlinear curves– parabola -Exponential – Power curves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Correlation – Karl Pearson’s correlation coefficient – rank correlation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regression-– regression coefficients and properties (without proof) –regression lines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Practice(Using any computational tool):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Finding the correlation coefficient and regression lines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176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83361" y="142836"/>
            <a:ext cx="3740489" cy="4876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73668" y="142836"/>
            <a:ext cx="6650182" cy="410317"/>
          </a:xfrm>
          <a:prstGeom prst="rect">
            <a:avLst/>
          </a:prstGeom>
        </p:spPr>
        <p:txBody>
          <a:bodyPr vert="horz" wrap="square" lIns="0" tIns="59321" rIns="0" bIns="0" rtlCol="0" anchor="ctr">
            <a:spAutoFit/>
          </a:bodyPr>
          <a:lstStyle/>
          <a:p>
            <a:pPr marL="4336196">
              <a:lnSpc>
                <a:spcPct val="100000"/>
              </a:lnSpc>
              <a:spcBef>
                <a:spcPts val="63"/>
              </a:spcBef>
            </a:pPr>
            <a:r>
              <a:rPr sz="2277" spc="-6" dirty="0"/>
              <a:t>Books</a:t>
            </a:r>
            <a:endParaRPr sz="2277" dirty="0"/>
          </a:p>
        </p:txBody>
      </p:sp>
      <p:sp>
        <p:nvSpPr>
          <p:cNvPr id="5" name="object 5"/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1568" y="925914"/>
            <a:ext cx="9914232" cy="2924358"/>
          </a:xfrm>
          <a:prstGeom prst="rect">
            <a:avLst/>
          </a:prstGeom>
        </p:spPr>
        <p:txBody>
          <a:bodyPr vert="horz" wrap="square" lIns="0" tIns="8032" rIns="0" bIns="0" rtlCol="0">
            <a:spAutoFit/>
          </a:bodyPr>
          <a:lstStyle/>
          <a:p>
            <a:pPr marL="8031">
              <a:spcBef>
                <a:spcPts val="63"/>
              </a:spcBef>
            </a:pPr>
            <a:r>
              <a:rPr sz="2087" b="1" spc="-22" dirty="0">
                <a:solidFill>
                  <a:srgbClr val="FF0000"/>
                </a:solidFill>
                <a:latin typeface="Times New Roman"/>
                <a:cs typeface="Times New Roman"/>
              </a:rPr>
              <a:t>Text</a:t>
            </a:r>
            <a:r>
              <a:rPr sz="2087" b="1" spc="-108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87" b="1" spc="-6" dirty="0">
                <a:solidFill>
                  <a:srgbClr val="FF0000"/>
                </a:solidFill>
                <a:latin typeface="Times New Roman"/>
                <a:cs typeface="Times New Roman"/>
              </a:rPr>
              <a:t>Books:</a:t>
            </a:r>
            <a:endParaRPr lang="en-IN" sz="2087" b="1" spc="-6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031">
              <a:spcBef>
                <a:spcPts val="63"/>
              </a:spcBef>
            </a:pPr>
            <a:endParaRPr sz="2087" dirty="0">
              <a:latin typeface="Times New Roman"/>
              <a:cs typeface="Times New Roman"/>
            </a:endParaRPr>
          </a:p>
          <a:p>
            <a:pPr>
              <a:spcBef>
                <a:spcPts val="104"/>
              </a:spcBef>
              <a:buFont typeface="Times New Roman"/>
              <a:buAutoNum type="arabicPeriod"/>
            </a:pPr>
            <a:endParaRPr sz="2087" dirty="0">
              <a:latin typeface="Times New Roman"/>
              <a:cs typeface="Times New Roman"/>
            </a:endParaRPr>
          </a:p>
          <a:p>
            <a:pPr marL="8031">
              <a:spcBef>
                <a:spcPts val="3"/>
              </a:spcBef>
            </a:pPr>
            <a:endParaRPr lang="en-IN" sz="2087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031">
              <a:spcBef>
                <a:spcPts val="3"/>
              </a:spcBef>
            </a:pPr>
            <a:endParaRPr lang="en-IN" sz="2087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031">
              <a:spcBef>
                <a:spcPts val="3"/>
              </a:spcBef>
            </a:pPr>
            <a:endParaRPr lang="en-IN" sz="2087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031">
              <a:spcBef>
                <a:spcPts val="3"/>
              </a:spcBef>
            </a:pPr>
            <a:endParaRPr lang="en-IN" sz="2087" b="1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031">
              <a:spcBef>
                <a:spcPts val="3"/>
              </a:spcBef>
            </a:pPr>
            <a:r>
              <a:rPr sz="2087" b="1" dirty="0">
                <a:solidFill>
                  <a:srgbClr val="FF0000"/>
                </a:solidFill>
                <a:latin typeface="Times New Roman"/>
                <a:cs typeface="Times New Roman"/>
              </a:rPr>
              <a:t>Reference</a:t>
            </a:r>
            <a:r>
              <a:rPr sz="2087" b="1" spc="-41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87" b="1" spc="-6" dirty="0">
                <a:solidFill>
                  <a:srgbClr val="FF0000"/>
                </a:solidFill>
                <a:latin typeface="Times New Roman"/>
                <a:cs typeface="Times New Roman"/>
              </a:rPr>
              <a:t>Books:</a:t>
            </a:r>
            <a:endParaRPr lang="en-IN" sz="2087" b="1" spc="-6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031">
              <a:spcBef>
                <a:spcPts val="3"/>
              </a:spcBef>
            </a:pPr>
            <a:endParaRPr lang="en-IN" sz="2087" b="1" spc="-6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31CB792-0E1D-9BE6-E726-BE91315866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125651"/>
              </p:ext>
            </p:extLst>
          </p:nvPr>
        </p:nvGraphicFramePr>
        <p:xfrm>
          <a:off x="1342239" y="1338834"/>
          <a:ext cx="8949949" cy="15240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71781">
                  <a:extLst>
                    <a:ext uri="{9D8B030D-6E8A-4147-A177-3AD203B41FA5}">
                      <a16:colId xmlns:a16="http://schemas.microsoft.com/office/drawing/2014/main" val="1964378171"/>
                    </a:ext>
                  </a:extLst>
                </a:gridCol>
                <a:gridCol w="8378168">
                  <a:extLst>
                    <a:ext uri="{9D8B030D-6E8A-4147-A177-3AD203B41FA5}">
                      <a16:colId xmlns:a16="http://schemas.microsoft.com/office/drawing/2014/main" val="480590003"/>
                    </a:ext>
                  </a:extLst>
                </a:gridCol>
              </a:tblGrid>
              <a:tr h="6037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1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Miller and Freund’s, Probability and Statistics for Engineers, 9/e, Pearson, 2020.ISBN978-9353945237</a:t>
                      </a:r>
                      <a:endParaRPr lang="en-IN" sz="20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22436631"/>
                  </a:ext>
                </a:extLst>
              </a:tr>
              <a:tr h="711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>
                          <a:effectLst/>
                        </a:rPr>
                        <a:t>2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Fundamentals of Mathematical Statistics, S.C. Gupta and </a:t>
                      </a:r>
                      <a:r>
                        <a:rPr lang="en-IN" sz="2000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V.K.Kapoor</a:t>
                      </a:r>
                      <a:r>
                        <a:rPr lang="en-IN" sz="20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12th edition, Sultan Chand &amp; Sons Publications, 2020.ISBN 978-9351611738</a:t>
                      </a:r>
                    </a:p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 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7425155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B48655-112B-6F24-66C4-FB803D16B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482722"/>
              </p:ext>
            </p:extLst>
          </p:nvPr>
        </p:nvGraphicFramePr>
        <p:xfrm>
          <a:off x="1342239" y="3842766"/>
          <a:ext cx="9060110" cy="1828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1862">
                  <a:extLst>
                    <a:ext uri="{9D8B030D-6E8A-4147-A177-3AD203B41FA5}">
                      <a16:colId xmlns:a16="http://schemas.microsoft.com/office/drawing/2014/main" val="1469038005"/>
                    </a:ext>
                  </a:extLst>
                </a:gridCol>
                <a:gridCol w="8748248">
                  <a:extLst>
                    <a:ext uri="{9D8B030D-6E8A-4147-A177-3AD203B41FA5}">
                      <a16:colId xmlns:a16="http://schemas.microsoft.com/office/drawing/2014/main" val="3338448121"/>
                    </a:ext>
                  </a:extLst>
                </a:gridCol>
              </a:tblGrid>
              <a:tr h="3605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1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Probability, Statistics and Random processes, </a:t>
                      </a:r>
                      <a:r>
                        <a:rPr lang="en-IN" sz="2000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T.Veerrajan</a:t>
                      </a:r>
                      <a:r>
                        <a:rPr lang="en-IN" sz="20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Tata McGraw-</a:t>
                      </a:r>
                      <a:r>
                        <a:rPr lang="en-IN" sz="2000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Hill.ISBN</a:t>
                      </a:r>
                      <a:r>
                        <a:rPr lang="en-IN" sz="20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978-0070669253</a:t>
                      </a:r>
                      <a:endParaRPr lang="en-IN" sz="20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2144391"/>
                  </a:ext>
                </a:extLst>
              </a:tr>
              <a:tr h="3605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Probability and statistics by T.K.V. Iyengar, S. Chand publishers,2022 ISBN 9789355010643</a:t>
                      </a:r>
                      <a:endParaRPr lang="en-IN" sz="20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9800773"/>
                  </a:ext>
                </a:extLst>
              </a:tr>
              <a:tr h="36052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>
                          <a:effectLst/>
                        </a:rPr>
                        <a:t>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 Statistics: Intuition, Math, Python, R by Mike X </a:t>
                      </a:r>
                      <a:r>
                        <a:rPr lang="en-IN" sz="2000" i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Cohen.ISBN</a:t>
                      </a:r>
                      <a:r>
                        <a:rPr lang="en-IN" sz="2000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9798867723736</a:t>
                      </a:r>
                      <a:endParaRPr lang="en-IN" sz="20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805465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55905" y="177719"/>
            <a:ext cx="3740489" cy="48864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92817" y="87276"/>
            <a:ext cx="6650182" cy="445142"/>
          </a:xfrm>
          <a:prstGeom prst="rect">
            <a:avLst/>
          </a:prstGeom>
        </p:spPr>
        <p:txBody>
          <a:bodyPr vert="horz" wrap="square" lIns="0" tIns="93809" rIns="0" bIns="0" rtlCol="0" anchor="ctr">
            <a:spAutoFit/>
          </a:bodyPr>
          <a:lstStyle/>
          <a:p>
            <a:pPr marL="3849488">
              <a:lnSpc>
                <a:spcPct val="100000"/>
              </a:lnSpc>
              <a:spcBef>
                <a:spcPts val="63"/>
              </a:spcBef>
            </a:pPr>
            <a:r>
              <a:rPr sz="2277" spc="-6" dirty="0"/>
              <a:t>Web</a:t>
            </a:r>
            <a:r>
              <a:rPr sz="2277" spc="-126" dirty="0"/>
              <a:t> </a:t>
            </a:r>
            <a:r>
              <a:rPr sz="2277" spc="-6" dirty="0"/>
              <a:t>Links</a:t>
            </a:r>
            <a:endParaRPr sz="2277" dirty="0"/>
          </a:p>
        </p:txBody>
      </p:sp>
      <p:sp>
        <p:nvSpPr>
          <p:cNvPr id="5" name="object 5"/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69902" y="1411425"/>
            <a:ext cx="9832711" cy="663290"/>
          </a:xfrm>
          <a:prstGeom prst="rect">
            <a:avLst/>
          </a:prstGeom>
        </p:spPr>
        <p:txBody>
          <a:bodyPr vert="horz" wrap="square" lIns="0" tIns="8032" rIns="0" bIns="0" rtlCol="0">
            <a:spAutoFit/>
          </a:bodyPr>
          <a:lstStyle/>
          <a:p>
            <a:pPr marL="8031">
              <a:spcBef>
                <a:spcPts val="63"/>
              </a:spcBef>
            </a:pPr>
            <a:r>
              <a:rPr sz="2087" b="1" dirty="0">
                <a:solidFill>
                  <a:srgbClr val="FF0000"/>
                </a:solidFill>
                <a:latin typeface="Times New Roman"/>
                <a:cs typeface="Times New Roman"/>
              </a:rPr>
              <a:t>Web</a:t>
            </a:r>
            <a:r>
              <a:rPr sz="2087" b="1" spc="-129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87" b="1" spc="-6" dirty="0">
                <a:solidFill>
                  <a:srgbClr val="FF0000"/>
                </a:solidFill>
                <a:latin typeface="Times New Roman"/>
                <a:cs typeface="Times New Roman"/>
              </a:rPr>
              <a:t>Links:</a:t>
            </a:r>
            <a:endParaRPr lang="en-IN" sz="2087" b="1" spc="-6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8031">
              <a:spcBef>
                <a:spcPts val="63"/>
              </a:spcBef>
            </a:pPr>
            <a:endParaRPr sz="2087" dirty="0">
              <a:latin typeface="Times New Roman"/>
              <a:cs typeface="Times New Roman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9904F-8E79-5417-D640-57B65D5CA2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375494"/>
              </p:ext>
            </p:extLst>
          </p:nvPr>
        </p:nvGraphicFramePr>
        <p:xfrm>
          <a:off x="1593908" y="1803632"/>
          <a:ext cx="8908705" cy="27303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908705">
                  <a:extLst>
                    <a:ext uri="{9D8B030D-6E8A-4147-A177-3AD203B41FA5}">
                      <a16:colId xmlns:a16="http://schemas.microsoft.com/office/drawing/2014/main" val="652561012"/>
                    </a:ext>
                  </a:extLst>
                </a:gridCol>
              </a:tblGrid>
              <a:tr h="4843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1</a:t>
                      </a:r>
                      <a:r>
                        <a:rPr lang="en-IN" sz="2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. https://onlinecourses.nptel.ac.in/noc21_ma74/preview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711175"/>
                  </a:ext>
                </a:extLst>
              </a:tr>
              <a:tr h="5243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2. http://mathworld.wolfram.com/topics/ProbabilityandStatistics.html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495010"/>
                  </a:ext>
                </a:extLst>
              </a:tr>
              <a:tr h="5243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3. https://www.khanacademy.org/math/statistics-probability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6848791"/>
                  </a:ext>
                </a:extLst>
              </a:tr>
              <a:tr h="5243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4. https://www.geeksforgeeks.org/statistics-with-python/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101543"/>
                  </a:ext>
                </a:extLst>
              </a:tr>
              <a:tr h="52437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2000" u="sng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7"/>
                        </a:rPr>
                        <a:t>5. https://www.coursera.org/learn/inferential-statistical-analysis-python?specialization=statistics-with-  python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9718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70A70-44D7-72BC-5166-C6C21D358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8D48AE5C-E0CE-1D55-C170-24EDE776D10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158" y="245864"/>
            <a:ext cx="3866750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967D8536-5396-ED03-F21B-4900C778CF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7759" y="166365"/>
            <a:ext cx="6650182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lang="en-IN" sz="2277" dirty="0"/>
              <a:t>Introduction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43E5D511-2D02-0103-5D2E-66287811201C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9F0E9F8-82DD-B2F3-47F0-FB470BDE9245}"/>
              </a:ext>
            </a:extLst>
          </p:cNvPr>
          <p:cNvSpPr txBox="1"/>
          <p:nvPr/>
        </p:nvSpPr>
        <p:spPr>
          <a:xfrm>
            <a:off x="1691354" y="1021053"/>
            <a:ext cx="8809291" cy="441511"/>
          </a:xfrm>
          <a:prstGeom prst="rect">
            <a:avLst/>
          </a:prstGeom>
        </p:spPr>
        <p:txBody>
          <a:bodyPr vert="horz" wrap="square" lIns="0" tIns="71481" rIns="0" bIns="0" rtlCol="0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FDCA58-B787-FA8B-03F0-7EA3911CB774}"/>
              </a:ext>
            </a:extLst>
          </p:cNvPr>
          <p:cNvSpPr txBox="1"/>
          <p:nvPr/>
        </p:nvSpPr>
        <p:spPr>
          <a:xfrm>
            <a:off x="1473665" y="1021053"/>
            <a:ext cx="9244668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is Probability?</a:t>
            </a:r>
          </a:p>
          <a:p>
            <a:pPr>
              <a:buNone/>
            </a:pP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measures 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likely an event is to happen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The probability value is always between </a:t>
            </a:r>
            <a:r>
              <a:rPr lang="en-US" sz="2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and 1</a:t>
            </a:r>
            <a:r>
              <a:rPr lang="en-US" sz="28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impossible event   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certain event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0 and 1 → possible event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getting a number when you roll a die =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(certain event).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getting a 9 when rolling a standard die = </a:t>
            </a:r>
            <a:r>
              <a:rPr lang="en-US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(impossible event).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0236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216C8-C4DC-8B18-9045-FEEEFC041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79986E2-9F2C-2A84-E0EF-66A55F8BD4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158" y="245864"/>
            <a:ext cx="3866750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EF249A38-5D3F-A5F7-337C-CA3C353D50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7759" y="166365"/>
            <a:ext cx="6650182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lang="en-IN" sz="2277" dirty="0"/>
              <a:t>Introduction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E0F5C95-0675-A46B-0BD5-7EACDC253B93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53BDBC0-3CA1-3376-3DE9-9594AFF4E3DF}"/>
              </a:ext>
            </a:extLst>
          </p:cNvPr>
          <p:cNvSpPr txBox="1"/>
          <p:nvPr/>
        </p:nvSpPr>
        <p:spPr>
          <a:xfrm>
            <a:off x="1691354" y="1021053"/>
            <a:ext cx="8809291" cy="441511"/>
          </a:xfrm>
          <a:prstGeom prst="rect">
            <a:avLst/>
          </a:prstGeom>
        </p:spPr>
        <p:txBody>
          <a:bodyPr vert="horz" wrap="square" lIns="0" tIns="71481" rIns="0" bIns="0" rtlCol="0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38E806-95CD-A79E-93AA-BD431CE20052}"/>
                  </a:ext>
                </a:extLst>
              </p:cNvPr>
              <p:cNvSpPr txBox="1"/>
              <p:nvPr/>
            </p:nvSpPr>
            <p:spPr>
              <a:xfrm>
                <a:off x="2021747" y="1021053"/>
                <a:ext cx="8053431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Sample Space (S)</a:t>
                </a:r>
              </a:p>
              <a:p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</a:t>
                </a:r>
                <a:r>
                  <a:rPr lang="en-IN" sz="28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I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space</a:t>
                </a:r>
                <a:r>
                  <a:rPr lang="en-IN" sz="28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set of </a:t>
                </a:r>
                <a:r>
                  <a:rPr lang="en-IN" sz="2800" b="1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possible outcomes</a:t>
                </a:r>
                <a:r>
                  <a:rPr lang="en-IN" sz="2800" dirty="0">
                    <a:solidFill>
                      <a:schemeClr val="accent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an experiment.</a:t>
                </a:r>
              </a:p>
              <a:p>
                <a:endParaRPr lang="en-IN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</a:t>
                </a:r>
                <a:r>
                  <a:rPr lang="en-IN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Tossing a coin                                      </a:t>
                </a:r>
              </a:p>
              <a:p>
                <a:r>
                  <a:rPr lang="en-I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Outcomes: {Head, Tail}</a:t>
                </a:r>
                <a:br>
                  <a:rPr lang="en-I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    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e>
                        <m:r>
                          <a:rPr lang="ar-AE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I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                                             </a:t>
                </a:r>
                <a:endParaRPr lang="ar-AE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238E806-95CD-A79E-93AA-BD431CE20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747" y="1021053"/>
                <a:ext cx="8053431" cy="3416320"/>
              </a:xfrm>
              <a:prstGeom prst="rect">
                <a:avLst/>
              </a:prstGeom>
              <a:blipFill>
                <a:blip r:embed="rId3"/>
                <a:stretch>
                  <a:fillRect l="-1590" b="-39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A22275-399B-5860-7822-6D0CE7D2C159}"/>
                  </a:ext>
                </a:extLst>
              </p:cNvPr>
              <p:cNvSpPr txBox="1"/>
              <p:nvPr/>
            </p:nvSpPr>
            <p:spPr>
              <a:xfrm>
                <a:off x="6613344" y="3052378"/>
                <a:ext cx="4476902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2: </a:t>
                </a:r>
                <a:r>
                  <a:rPr lang="en-IN" sz="28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Rolling a die</a:t>
                </a:r>
              </a:p>
              <a:p>
                <a:r>
                  <a:rPr lang="en-IN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Outcomes: {1, 2, 3, 4, 5, 6}</a:t>
                </a:r>
                <a:br>
                  <a:rPr lang="en-IN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8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   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80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sepChr m:val=","/>
                        <m:ctrlPr>
                          <a:rPr lang="ar-AE" sz="28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e>
                        <m:r>
                          <a:rPr lang="ar-AE" sz="28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e>
                        <m:r>
                          <a:rPr lang="ar-AE" sz="28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e>
                        <m:r>
                          <a:rPr lang="ar-AE" sz="28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e>
                        <m:r>
                          <a:rPr lang="ar-AE" sz="28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e>
                        <m:r>
                          <a:rPr lang="ar-AE" sz="280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7A22275-399B-5860-7822-6D0CE7D2C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3344" y="3052378"/>
                <a:ext cx="4476902" cy="1384995"/>
              </a:xfrm>
              <a:prstGeom prst="rect">
                <a:avLst/>
              </a:prstGeom>
              <a:blipFill>
                <a:blip r:embed="rId4"/>
                <a:stretch>
                  <a:fillRect l="-2861" t="-4846" b="-110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625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657C-4A3D-4C20-96B9-912A06CDB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1296AE5-B88D-AE5C-77B1-CDB85524091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158" y="245864"/>
            <a:ext cx="3866750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0969CC6C-F5F7-064A-282B-A0B72A08AE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7759" y="166365"/>
            <a:ext cx="6650182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lang="en-IN" sz="2277" dirty="0"/>
              <a:t>Introduction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EF7A166D-9E94-03FB-0285-E78A1C429709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653BF87-6CA3-DD0E-8F2A-582CA8D146EE}"/>
              </a:ext>
            </a:extLst>
          </p:cNvPr>
          <p:cNvSpPr txBox="1"/>
          <p:nvPr/>
        </p:nvSpPr>
        <p:spPr>
          <a:xfrm>
            <a:off x="1417739" y="1021053"/>
            <a:ext cx="9345336" cy="2657502"/>
          </a:xfrm>
          <a:prstGeom prst="rect">
            <a:avLst/>
          </a:prstGeom>
        </p:spPr>
        <p:txBody>
          <a:bodyPr vert="horz" wrap="square" lIns="0" tIns="71481" rIns="0" bIns="0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Event (A)</a:t>
            </a:r>
          </a:p>
          <a:p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8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subset of the sample space</a:t>
            </a:r>
            <a:r>
              <a:rPr lang="en-US" sz="28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one or more outcomes you are interested in.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1: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Rolling an even number</a:t>
            </a:r>
          </a:p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A = {2, 4, 6}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34EF5-9BB3-CB16-8806-7CA810C1ABF9}"/>
              </a:ext>
            </a:extLst>
          </p:cNvPr>
          <p:cNvSpPr txBox="1"/>
          <p:nvPr/>
        </p:nvSpPr>
        <p:spPr>
          <a:xfrm>
            <a:off x="1235280" y="3871943"/>
            <a:ext cx="78751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2: </a:t>
            </a:r>
            <a:r>
              <a:rPr lang="en-US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Getting a Head when tossing a coin</a:t>
            </a:r>
          </a:p>
          <a:p>
            <a:r>
              <a:rPr lang="en-US" sz="28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Event A = {H}</a:t>
            </a:r>
          </a:p>
        </p:txBody>
      </p:sp>
    </p:spTree>
    <p:extLst>
      <p:ext uri="{BB962C8B-B14F-4D97-AF65-F5344CB8AC3E}">
        <p14:creationId xmlns:p14="http://schemas.microsoft.com/office/powerpoint/2010/main" val="460057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724B3-CBD7-601F-A62B-8746B4F47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6B89FE0-1291-E5CE-1678-D83010679DB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158" y="245864"/>
            <a:ext cx="3866750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5267ADA8-D96A-6AFC-1307-2EF4C9B0EB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7759" y="166365"/>
            <a:ext cx="6650182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lang="en-IN" sz="2277" dirty="0"/>
              <a:t>Introduction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CB33AD6B-F01C-0D98-5EA1-D01AB2EEDA4F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716442-CEA6-B802-AA0A-47DF5BBCE865}"/>
                  </a:ext>
                </a:extLst>
              </p:cNvPr>
              <p:cNvSpPr txBox="1"/>
              <p:nvPr/>
            </p:nvSpPr>
            <p:spPr>
              <a:xfrm>
                <a:off x="1497777" y="1232682"/>
                <a:ext cx="8837460" cy="2276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b="1" dirty="0"/>
                  <a:t>4. </a:t>
                </a: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an Event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8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favourable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outcomes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number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of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800" b="0" i="1">
                              <a:solidFill>
                                <a:srgbClr val="7030A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outcomes</m:t>
                          </m:r>
                        </m:den>
                      </m:f>
                    </m:oMath>
                  </m:oMathPara>
                </a14:m>
                <a:endParaRPr lang="ar-AE" sz="2800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Favourable outcomes → </a:t>
                </a:r>
                <a:r>
                  <a:rPr lang="en-IN" sz="28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outcomes that belong to event A</a:t>
                </a:r>
              </a:p>
              <a:p>
                <a:r>
                  <a:rPr lang="en-I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outcomes → </a:t>
                </a:r>
                <a:r>
                  <a:rPr lang="en-IN" sz="2800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outcomes in sample space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8716442-CEA6-B802-AA0A-47DF5BBCE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777" y="1232682"/>
                <a:ext cx="8837460" cy="2276329"/>
              </a:xfrm>
              <a:prstGeom prst="rect">
                <a:avLst/>
              </a:prstGeom>
              <a:blipFill>
                <a:blip r:embed="rId3"/>
                <a:stretch>
                  <a:fillRect l="-1449" t="-2941" b="-64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1D1E76-7DDE-C978-2511-78835E128E0D}"/>
                  </a:ext>
                </a:extLst>
              </p:cNvPr>
              <p:cNvSpPr txBox="1"/>
              <p:nvPr/>
            </p:nvSpPr>
            <p:spPr>
              <a:xfrm>
                <a:off x="1497777" y="3723644"/>
                <a:ext cx="9265298" cy="305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1: Rolling a die — Find P(getting a 4)</a:t>
                </a:r>
              </a:p>
              <a:p>
                <a:pPr>
                  <a:buNone/>
                </a:pPr>
                <a:r>
                  <a:rPr lang="en-IN" sz="28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space: S = {1,2,3,4,5,6}</a:t>
                </a:r>
                <a:endParaRPr lang="en-IN" sz="28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IN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A = {4}</a:t>
                </a:r>
                <a:br>
                  <a:rPr lang="en-IN" sz="28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8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outcomes = 6</a:t>
                </a:r>
                <a:br>
                  <a:rPr lang="en-IN" sz="28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8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Favourable outcomes = 1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8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8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800" i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800" i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ar-AE" sz="28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1D1E76-7DDE-C978-2511-78835E128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777" y="3723644"/>
                <a:ext cx="9265298" cy="3056221"/>
              </a:xfrm>
              <a:prstGeom prst="rect">
                <a:avLst/>
              </a:prstGeom>
              <a:blipFill>
                <a:blip r:embed="rId4"/>
                <a:stretch>
                  <a:fillRect l="-1382" t="-219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5958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1A39F-BC03-23E4-E608-570243E1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6BF9494-04AA-A10B-D968-4B2A16B0BE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158" y="245864"/>
            <a:ext cx="3866750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25043D96-E865-B87E-B84E-0B833BDFC9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7759" y="166365"/>
            <a:ext cx="6650182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lang="en-IN" sz="2277" dirty="0"/>
              <a:t>Introduction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6E693A27-5B1D-B05A-710C-F7ACFD432F1A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E1634E-7731-F030-E4D0-F2DF74F9A7B0}"/>
                  </a:ext>
                </a:extLst>
              </p:cNvPr>
              <p:cNvSpPr txBox="1"/>
              <p:nvPr/>
            </p:nvSpPr>
            <p:spPr>
              <a:xfrm>
                <a:off x="1571538" y="920987"/>
                <a:ext cx="8927123" cy="2632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2: Rolling a die — Find P(getting an even number)</a:t>
                </a:r>
              </a:p>
              <a:p>
                <a:pPr>
                  <a:buNone/>
                </a:pPr>
                <a:r>
                  <a:rPr lang="en-I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space: S = {1,2,3,4,5,6}</a:t>
                </a:r>
                <a:br>
                  <a:rPr lang="en-I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solidFill>
                      <a:schemeClr val="accent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A (even numbers) = {2,4,6}</a:t>
                </a:r>
              </a:p>
              <a:p>
                <a:pPr>
                  <a:buNone/>
                </a:pPr>
                <a:r>
                  <a:rPr lang="en-IN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outcomes = 6</a:t>
                </a:r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solidFill>
                      <a:schemeClr val="accent4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Favourable outcomes = 3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4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ar-AE" sz="2400" i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ar-AE" sz="24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i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DE1634E-7731-F030-E4D0-F2DF74F9A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1538" y="920987"/>
                <a:ext cx="8927123" cy="2632837"/>
              </a:xfrm>
              <a:prstGeom prst="rect">
                <a:avLst/>
              </a:prstGeom>
              <a:blipFill>
                <a:blip r:embed="rId3"/>
                <a:stretch>
                  <a:fillRect l="-1093" t="-18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0D67E6-E8E8-EDFF-5D32-91E1F41DFD0F}"/>
                  </a:ext>
                </a:extLst>
              </p:cNvPr>
              <p:cNvSpPr txBox="1"/>
              <p:nvPr/>
            </p:nvSpPr>
            <p:spPr>
              <a:xfrm>
                <a:off x="1693338" y="3723644"/>
                <a:ext cx="8994236" cy="2630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3: Tossing a coin — Find P(Tail)</a:t>
                </a:r>
              </a:p>
              <a:p>
                <a:pPr>
                  <a:buNone/>
                </a:pPr>
                <a: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space: {H, T}</a:t>
                </a:r>
                <a:br>
                  <a:rPr lang="en-IN" sz="2400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A = {T}</a:t>
                </a:r>
              </a:p>
              <a:p>
                <a:pPr>
                  <a:buNone/>
                </a:pPr>
                <a:r>
                  <a:rPr lang="en-I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outcomes = 2</a:t>
                </a:r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Favourable outcomes = 1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400" i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i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ar-AE" sz="24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0D67E6-E8E8-EDFF-5D32-91E1F41DF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3338" y="3723644"/>
                <a:ext cx="8994236" cy="2630464"/>
              </a:xfrm>
              <a:prstGeom prst="rect">
                <a:avLst/>
              </a:prstGeom>
              <a:blipFill>
                <a:blip r:embed="rId4"/>
                <a:stretch>
                  <a:fillRect l="-1085" t="-18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97973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5428E-86E4-B276-4FF7-9055234C9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E062CF9E-D681-3377-3D3F-D24C5DDD816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158" y="245864"/>
            <a:ext cx="3866750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0B5C574-0A63-08FC-31D0-5F367BC1BF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7759" y="166365"/>
            <a:ext cx="6650182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lang="en-IN" sz="2277" dirty="0"/>
              <a:t>Introduction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98B2EDA-BAD9-B232-D3C8-66A75D969137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39D1D0-3A39-F7A2-E657-405C8D4FA7AB}"/>
                  </a:ext>
                </a:extLst>
              </p:cNvPr>
              <p:cNvSpPr txBox="1"/>
              <p:nvPr/>
            </p:nvSpPr>
            <p:spPr>
              <a:xfrm>
                <a:off x="2049011" y="948743"/>
                <a:ext cx="7816442" cy="2632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4: Drawing a card — Find P(getting a King)</a:t>
                </a:r>
              </a:p>
              <a:p>
                <a:pPr>
                  <a:buNone/>
                </a:pPr>
                <a:r>
                  <a:rPr lang="en-IN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deck has 52 cards (= sample space)</a:t>
                </a:r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Kings = 4 (= Event)</a:t>
                </a:r>
              </a:p>
              <a:p>
                <a:pPr>
                  <a:buNone/>
                </a:pPr>
                <a:r>
                  <a:rPr lang="en-IN" sz="2400" dirty="0">
                    <a:solidFill>
                      <a:schemeClr val="accent5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Favourable = 4</a:t>
                </a:r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solidFill>
                      <a:schemeClr val="accent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= 52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IN" sz="2400" b="0" i="1">
                              <a:solidFill>
                                <a:srgbClr val="00B0F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King</m:t>
                          </m:r>
                        </m:e>
                      </m:d>
                      <m:r>
                        <a:rPr lang="ar-AE" sz="2400" b="0" i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b="0" i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ar-AE" sz="2400" b="0" i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  <m:r>
                        <a:rPr lang="ar-AE" sz="2400" b="0" i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b="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b="0" i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 sz="2400" b="0" i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ar-AE" sz="2400" b="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939D1D0-3A39-F7A2-E657-405C8D4FA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011" y="948743"/>
                <a:ext cx="7816442" cy="2632837"/>
              </a:xfrm>
              <a:prstGeom prst="rect">
                <a:avLst/>
              </a:prstGeom>
              <a:blipFill>
                <a:blip r:embed="rId3"/>
                <a:stretch>
                  <a:fillRect l="-1170" t="-18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4FA9DA-DCDF-971E-25A7-8B84B3195F06}"/>
                  </a:ext>
                </a:extLst>
              </p:cNvPr>
              <p:cNvSpPr txBox="1"/>
              <p:nvPr/>
            </p:nvSpPr>
            <p:spPr>
              <a:xfrm>
                <a:off x="2049011" y="3636136"/>
                <a:ext cx="8034556" cy="2263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5: Probability of an impossible event</a:t>
                </a:r>
              </a:p>
              <a:p>
                <a:pPr>
                  <a:buNone/>
                </a:pPr>
                <a:r>
                  <a:rPr lang="en-I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Event: Rolling a </a:t>
                </a: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</a:t>
                </a:r>
                <a:r>
                  <a:rPr lang="en-I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a die</a:t>
                </a:r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A = { } (empty set)</a:t>
                </a:r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Number of favourable outcomes = 0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ar-AE" sz="2400" i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ar-AE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74FA9DA-DCDF-971E-25A7-8B84B3195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011" y="3636136"/>
                <a:ext cx="8034556" cy="2263505"/>
              </a:xfrm>
              <a:prstGeom prst="rect">
                <a:avLst/>
              </a:prstGeom>
              <a:blipFill>
                <a:blip r:embed="rId4"/>
                <a:stretch>
                  <a:fillRect l="-1138" t="-2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13757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DD1B5-28EF-6D60-06EE-22ACC8519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94B0B9D7-C9EF-88D6-8B22-7F55B7D44AC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71158" y="245864"/>
            <a:ext cx="3866750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44F2C944-5A3A-5D41-BD76-DF5A03CE79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7759" y="166365"/>
            <a:ext cx="6650182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lang="en-IN" sz="2277" dirty="0"/>
              <a:t>Introduction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7431473-5F65-EE75-8A4E-A9D85CE7BC38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9FF7F5-FAB9-3115-195E-304EA0B55A2F}"/>
                  </a:ext>
                </a:extLst>
              </p:cNvPr>
              <p:cNvSpPr txBox="1"/>
              <p:nvPr/>
            </p:nvSpPr>
            <p:spPr>
              <a:xfrm>
                <a:off x="1924533" y="1123552"/>
                <a:ext cx="8342934" cy="26328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6: Probability of a certain event</a:t>
                </a:r>
              </a:p>
              <a:p>
                <a:pPr>
                  <a:buNone/>
                </a:pPr>
                <a:r>
                  <a:rPr lang="en-IN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Event: Getting a number ≤ 6 on a die</a:t>
                </a:r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A = {1,2,3,4,5,6}</a:t>
                </a:r>
              </a:p>
              <a:p>
                <a:pPr>
                  <a:buNone/>
                </a:pPr>
                <a:r>
                  <a:rPr lang="en-IN" sz="24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Favourable = 6</a:t>
                </a:r>
                <a:b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Total = 6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4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 sz="2400" i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ar-AE" sz="2400" i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ar-AE" sz="24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89FF7F5-FAB9-3115-195E-304EA0B55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533" y="1123552"/>
                <a:ext cx="8342934" cy="2632837"/>
              </a:xfrm>
              <a:prstGeom prst="rect">
                <a:avLst/>
              </a:prstGeom>
              <a:blipFill>
                <a:blip r:embed="rId3"/>
                <a:stretch>
                  <a:fillRect l="-1170" t="-18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9C4ADA-8E61-253E-A616-2C0E08333BA6}"/>
                  </a:ext>
                </a:extLst>
              </p:cNvPr>
              <p:cNvSpPr txBox="1"/>
              <p:nvPr/>
            </p:nvSpPr>
            <p:spPr>
              <a:xfrm>
                <a:off x="1906397" y="3855415"/>
                <a:ext cx="9217404" cy="22709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Sample space (S):</a:t>
                </a:r>
                <a:r>
                  <a:rPr lang="en-IN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all possible results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(A):</a:t>
                </a:r>
                <a:r>
                  <a:rPr lang="en-IN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specific result(s) we want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IN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Probability:</a:t>
                </a:r>
                <a:endParaRPr lang="en-IN" sz="240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400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400" b="0" i="1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favourable</m:t>
                          </m:r>
                          <m:r>
                            <m:rPr>
                              <m:nor/>
                            </m:rPr>
                            <a:rPr lang="en-IN" sz="2400" b="0" i="1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0" i="1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outcomes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400" b="0" i="1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total</m:t>
                          </m:r>
                          <m:r>
                            <m:rPr>
                              <m:nor/>
                            </m:rPr>
                            <a:rPr lang="en-IN" sz="2400" b="0" i="1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IN" sz="2400" b="0" i="1">
                              <a:solidFill>
                                <a:srgbClr val="00B05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outcomes</m:t>
                          </m:r>
                        </m:den>
                      </m:f>
                    </m:oMath>
                  </m:oMathPara>
                </a14:m>
                <a:endParaRPr lang="ar-AE" sz="2400" b="0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B9C4ADA-8E61-253E-A616-2C0E08333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397" y="3855415"/>
                <a:ext cx="9217404" cy="2270943"/>
              </a:xfrm>
              <a:prstGeom prst="rect">
                <a:avLst/>
              </a:prstGeom>
              <a:blipFill>
                <a:blip r:embed="rId4"/>
                <a:stretch>
                  <a:fillRect l="-1058" t="-21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33599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9DF3-64E1-E48D-C974-09EE512F2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E50669F-6390-744A-C14D-AFDD97C762E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3685" y="301872"/>
            <a:ext cx="5544629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62BCA8A4-8DDA-61EC-0A14-8489BE6B6A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573596" y="252912"/>
            <a:ext cx="9826653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lang="en-IN" sz="2277" dirty="0"/>
              <a:t>Axiomatic Definition of Probability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A98D6C6C-1116-1F99-97F9-8509F42B3F18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4A1FE5-EF45-1CB6-1A0A-92F3C9C58D1F}"/>
                  </a:ext>
                </a:extLst>
              </p:cNvPr>
              <p:cNvSpPr txBox="1"/>
              <p:nvPr/>
            </p:nvSpPr>
            <p:spPr>
              <a:xfrm>
                <a:off x="1302392" y="1073358"/>
                <a:ext cx="9522362" cy="5170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Axiomatic Definition of Probability :</a:t>
                </a:r>
              </a:p>
              <a:p>
                <a:pPr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the sample space (all possible outcomes), and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any event from that sample space.</a:t>
                </a:r>
              </a:p>
              <a:p>
                <a:pPr>
                  <a:buNone/>
                </a:pP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probability of A, written as 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P(A)</a:t>
                </a:r>
                <a:r>
                  <a:rPr 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must follow these basic rules (axioms):</a:t>
                </a:r>
              </a:p>
              <a:p>
                <a:pPr marL="342900" indent="-342900">
                  <a:buAutoNum type="arabicPeriod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is always between 0 and 1: </a:t>
                </a:r>
                <a14:m>
                  <m:oMath xmlns:m="http://schemas.openxmlformats.org/officeDocument/2006/math">
                    <m:r>
                      <a:rPr lang="en-IN" sz="24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ar-AE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ar-AE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AutoNum type="arabicPeriod" startAt="2"/>
                </a:pPr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probability of the sample space is 1: </a:t>
                </a:r>
                <a14:m>
                  <m:oMath xmlns:m="http://schemas.openxmlformats.org/officeDocument/2006/math">
                    <m:r>
                      <a:rPr lang="en-IN" sz="240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lang="ar-AE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40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IN" sz="2400" dirty="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Additive Rule for Mutually Exclusive Events</a:t>
                </a:r>
              </a:p>
              <a:p>
                <a:r>
                  <a:rPr lang="en-IN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:r>
                  <a:rPr lang="en-IN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IN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IN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</a:t>
                </a:r>
                <a:r>
                  <a:rPr lang="en-IN" sz="2400" b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mutually exclusive</a:t>
                </a:r>
                <a:r>
                  <a:rPr lang="en-IN" sz="2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(they cannot happen together),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4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ar-A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40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ar-AE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Additivity for many mutually exclusive events</a:t>
                </a:r>
              </a:p>
              <a:p>
                <a:r>
                  <a:rPr lang="en-IN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4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AE" sz="240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4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ar-AE" sz="240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4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ar-AE" sz="240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ar-AE" sz="240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IN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 </a:t>
                </a:r>
                <a:r>
                  <a:rPr lang="en-IN" sz="24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all mutually exclusive</a:t>
                </a:r>
                <a:r>
                  <a:rPr lang="en-IN" sz="24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ar-AE" sz="24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ar-AE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ar-AE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ar-AE" sz="24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ar-AE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sSub>
                            <m:sSubPr>
                              <m:ctrlPr>
                                <a:rPr lang="ar-AE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ar-AE" sz="24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ar-AE" sz="240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∪…</m:t>
                          </m:r>
                          <m:r>
                            <m:rPr>
                              <m:nor/>
                            </m:rPr>
                            <a:rPr lang="ar-AE" sz="2400" i="1">
                              <a:solidFill>
                                <a:srgbClr val="00B0F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 </m:t>
                          </m:r>
                        </m:e>
                      </m:d>
                      <m:r>
                        <a:rPr lang="ar-AE" sz="24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ar-AE" sz="24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ar-AE" sz="24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ar-AE" sz="24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ar-AE" sz="24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400" i="1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2400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ar-AE" sz="240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ar-AE" sz="240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ar-AE" sz="2400" dirty="0">
                  <a:solidFill>
                    <a:srgbClr val="00B0F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94A1FE5-EF45-1CB6-1A0A-92F3C9C58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2392" y="1073358"/>
                <a:ext cx="9522362" cy="5170646"/>
              </a:xfrm>
              <a:prstGeom prst="rect">
                <a:avLst/>
              </a:prstGeom>
              <a:blipFill>
                <a:blip r:embed="rId3"/>
                <a:stretch>
                  <a:fillRect l="-1024" t="-943" r="-5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3228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661CF-496B-F682-4E0A-BE0A00657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E7A4FB4-FE77-4FF0-D183-FF40477826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3685" y="301872"/>
            <a:ext cx="5544629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50F2CED7-8250-4379-EC24-C64590C1B2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8014" y="261599"/>
            <a:ext cx="6026440" cy="505075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lang="en-IN" sz="2277" dirty="0"/>
              <a:t>Note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6EED478-313B-396A-9B56-718C787BB772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6C1B28-C22C-A311-9D3A-A59DB8488B5B}"/>
                  </a:ext>
                </a:extLst>
              </p:cNvPr>
              <p:cNvSpPr txBox="1"/>
              <p:nvPr/>
            </p:nvSpPr>
            <p:spPr>
              <a:xfrm>
                <a:off x="1208014" y="946456"/>
                <a:ext cx="9826653" cy="5649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endParaRPr lang="en-I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Probability of Impossible Event: </a:t>
                </a:r>
                <a:r>
                  <a:rPr lang="en-IN" sz="20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 impossible event has </a:t>
                </a:r>
                <a:r>
                  <a:rPr lang="en-IN" sz="20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 outcomes. </a:t>
                </a:r>
                <a:r>
                  <a:rPr lang="en-IN" sz="20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So, its probability is </a:t>
                </a:r>
                <a:r>
                  <a:rPr lang="en-IN" sz="20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20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ctr"/>
                <a:r>
                  <a:rPr lang="en-IN" sz="20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00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a:rPr lang="en-IN" sz="2000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IN" sz="2000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000" b="0" i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000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ar-AE" sz="2000" i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i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2000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Complementary Event: </a:t>
                </a:r>
                <a:r>
                  <a:rPr lang="en-IN" sz="2000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sz="2000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an event, then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ar-AE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ar-AE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lim>
                        <m:r>
                          <a:rPr lang="en-IN" sz="2000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</m:lim>
                    </m:limUpp>
                  </m:oMath>
                </a14:m>
                <a:r>
                  <a:rPr lang="en-IN" sz="2000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its complement (event that A does NOT happen).</a:t>
                </a:r>
              </a:p>
              <a:p>
                <a:pPr algn="ctr"/>
                <a:r>
                  <a:rPr lang="en-IN" sz="2000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limUpp>
                          <m:limUppPr>
                            <m:ctrlPr>
                              <a:rPr lang="ar-AE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sz="2000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lim>
                            <m:r>
                              <a:rPr lang="en-IN" sz="2000" b="0" i="1" smtClean="0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_</m:t>
                            </m:r>
                          </m:lim>
                        </m:limUpp>
                      </m:e>
                    </m:d>
                    <m:r>
                      <a:rPr lang="ar-AE" sz="200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ar-AE" sz="200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ar-AE" sz="2000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ar-AE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lang="en-IN" sz="2000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 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Addition Theorem </a:t>
                </a:r>
                <a:r>
                  <a:rPr lang="en-IN" sz="2000" b="1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IN" sz="20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</a:t>
                </a:r>
                <a:r>
                  <a:rPr lang="en-IN" sz="2000" b="1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any two events A and B</a:t>
                </a:r>
                <a:r>
                  <a:rPr lang="en-IN" sz="2000" dirty="0">
                    <a:solidFill>
                      <a:schemeClr val="accent1">
                        <a:lumMod val="75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0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ar-AE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0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0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00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000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00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 sz="2000" i="1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IN" sz="2000" dirty="0">
                    <a:solidFill>
                      <a:schemeClr val="accent4">
                        <a:lumMod val="50000"/>
                      </a:scheme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A and B are mutually exclusive,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00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∩</m:t>
                          </m:r>
                          <m:r>
                            <a:rPr lang="ar-AE" sz="20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00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ar-AE" sz="200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ar-AE" sz="2000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ar-AE" sz="200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ar-AE" sz="20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00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000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ar-AE" sz="200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sz="2000" i="1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</m:oMath>
                  </m:oMathPara>
                </a14:m>
                <a:endParaRPr lang="en-IN" sz="20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Addition Theorem for 3 Events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</a:t>
                </a:r>
                <a:r>
                  <a:rPr lang="en-IN" sz="20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any three events A, B, C: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ar-AE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r>
                            <a:rPr lang="ar-AE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ar-AE" sz="20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ar-AE" sz="20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∪</m:t>
                              </m:r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en-IN" sz="20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ar-AE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ar-AE" sz="20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ar-AE" sz="20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ar-AE" sz="20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ar-AE" sz="20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ar-AE" sz="20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ar-AE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ar-AE" sz="20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  <m:r>
                            <a:rPr lang="ar-AE" sz="20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  <m:e>
                          <m:r>
                            <a:rPr lang="ar-AE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ar-AE" sz="20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  <m:r>
                            <a:rPr lang="ar-AE" sz="200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ar-AE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ar-AE" sz="20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ar-AE" sz="200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∩</m:t>
                              </m:r>
                              <m:r>
                                <a:rPr lang="ar-AE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IN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en-IN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Event Containment</a:t>
                </a:r>
              </a:p>
              <a:p>
                <a:r>
                  <a:rPr lang="en-IN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en-I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event </a:t>
                </a:r>
                <a:r>
                  <a:rPr lang="en-IN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 is a subset of A</a:t>
                </a:r>
                <a:r>
                  <a:rPr lang="en-I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written as </a:t>
                </a:r>
                <a14:m>
                  <m:oMath xmlns:m="http://schemas.openxmlformats.org/officeDocument/2006/math">
                    <m:r>
                      <a:rPr lang="en-I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0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IN" sz="2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ar-AE" sz="200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ar-AE" sz="20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ar-A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F6C1B28-C22C-A311-9D3A-A59DB8488B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8014" y="946456"/>
                <a:ext cx="9826653" cy="5649945"/>
              </a:xfrm>
              <a:prstGeom prst="rect">
                <a:avLst/>
              </a:prstGeom>
              <a:blipFill>
                <a:blip r:embed="rId3"/>
                <a:stretch>
                  <a:fillRect l="-558" r="-31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1848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01924-E876-074F-5292-3F37113C9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6EFC80DD-E216-1E0F-F5D6-767AF241AD2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3685" y="301872"/>
            <a:ext cx="5544629" cy="595624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C318E895-0D23-C809-BDF4-768B5A00C2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890" y="252912"/>
            <a:ext cx="8506437" cy="523990"/>
          </a:xfrm>
          <a:prstGeom prst="rect">
            <a:avLst/>
          </a:prstGeom>
        </p:spPr>
        <p:txBody>
          <a:bodyPr vert="horz" wrap="square" lIns="0" tIns="153162" rIns="0" bIns="0" rtlCol="0" anchor="ctr">
            <a:spAutoFit/>
          </a:bodyPr>
          <a:lstStyle/>
          <a:p>
            <a:pPr marL="4709660">
              <a:lnSpc>
                <a:spcPct val="100000"/>
              </a:lnSpc>
              <a:spcBef>
                <a:spcPts val="63"/>
              </a:spcBef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Theorem</a:t>
            </a:r>
            <a:endParaRPr sz="2277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81F3144-7402-DB9E-9204-4A5BB767BC3C}"/>
              </a:ext>
            </a:extLst>
          </p:cNvPr>
          <p:cNvSpPr txBox="1"/>
          <p:nvPr/>
        </p:nvSpPr>
        <p:spPr>
          <a:xfrm>
            <a:off x="11468029" y="6293349"/>
            <a:ext cx="66261" cy="1026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031">
              <a:lnSpc>
                <a:spcPts val="797"/>
              </a:lnSpc>
            </a:pPr>
            <a:r>
              <a:rPr sz="759" spc="-32" dirty="0">
                <a:solidFill>
                  <a:srgbClr val="888888"/>
                </a:solidFill>
                <a:latin typeface="Calibri"/>
                <a:cs typeface="Calibri"/>
              </a:rPr>
              <a:t>1</a:t>
            </a:r>
            <a:endParaRPr sz="759">
              <a:latin typeface="Calibri"/>
              <a:cs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FCA744-4B4F-6E68-7E58-3D5058DA8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871" y="1153433"/>
            <a:ext cx="9201150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8805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F551BD-B3B1-E60A-554F-EFA127BB2627}"/>
              </a:ext>
            </a:extLst>
          </p:cNvPr>
          <p:cNvSpPr txBox="1"/>
          <p:nvPr/>
        </p:nvSpPr>
        <p:spPr>
          <a:xfrm>
            <a:off x="838200" y="969695"/>
            <a:ext cx="103759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card is drawn from a well-shuffled deck of 52 cards.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the probability that it is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 a spade or an ace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40F59395-543E-DAC5-7FB2-46D2C78BED8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3685" y="301872"/>
            <a:ext cx="5544629" cy="5956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5E06722-2879-9D25-B934-34DB45E2E629}"/>
              </a:ext>
            </a:extLst>
          </p:cNvPr>
          <p:cNvSpPr txBox="1"/>
          <p:nvPr/>
        </p:nvSpPr>
        <p:spPr>
          <a:xfrm>
            <a:off x="4254500" y="33807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Theorem</a:t>
            </a:r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82B8602A-202D-9A02-D1B3-6A5FDA4FA5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IN" b="1" dirty="0"/>
                  <a:t>Consider the two events a spade and an ace be A and B respectively.</a:t>
                </a:r>
              </a:p>
              <a:p>
                <a:pPr marL="0" indent="0">
                  <a:buNone/>
                </a:pPr>
                <a:r>
                  <a:rPr lang="en-IN" b="1" dirty="0" err="1"/>
                  <a:t>ie</a:t>
                </a:r>
                <a:r>
                  <a:rPr lang="en-IN" b="1" dirty="0"/>
                  <a:t>., A = event that the card is a Spade</a:t>
                </a:r>
                <a:br>
                  <a:rPr lang="en-IN" dirty="0"/>
                </a:br>
                <a:r>
                  <a:rPr lang="en-IN" dirty="0"/>
                  <a:t>          There are </a:t>
                </a:r>
                <a:r>
                  <a:rPr lang="en-IN" b="1" dirty="0"/>
                  <a:t>13 spades</a:t>
                </a:r>
                <a:r>
                  <a:rPr lang="en-IN" dirty="0"/>
                  <a:t>.</a:t>
                </a:r>
                <a:br>
                  <a:rPr lang="en-IN" dirty="0"/>
                </a:br>
                <a:r>
                  <a:rPr lang="en-IN" dirty="0"/>
                  <a:t>          So,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</m:oMath>
                  </m:oMathPara>
                </a14:m>
                <a:br>
                  <a:rPr lang="en-IN" dirty="0"/>
                </a:br>
                <a:endParaRPr lang="en-IN" dirty="0"/>
              </a:p>
              <a:p>
                <a:pPr marL="0" lvl="0" indent="0">
                  <a:buNone/>
                </a:pPr>
                <a:r>
                  <a:rPr lang="en-IN" b="1" dirty="0"/>
                  <a:t>B = event that the card is an Ace</a:t>
                </a:r>
                <a:br>
                  <a:rPr lang="en-IN" dirty="0"/>
                </a:br>
                <a:r>
                  <a:rPr lang="en-IN" dirty="0"/>
                  <a:t>There are </a:t>
                </a:r>
                <a:r>
                  <a:rPr lang="en-IN" b="1" dirty="0"/>
                  <a:t>4 aces</a:t>
                </a:r>
                <a:r>
                  <a:rPr lang="en-IN" dirty="0"/>
                  <a:t>.</a:t>
                </a:r>
                <a:br>
                  <a:rPr lang="en-IN" dirty="0"/>
                </a:br>
                <a:r>
                  <a:rPr lang="en-IN" dirty="0"/>
                  <a:t>So,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</m:oMath>
                  </m:oMathPara>
                </a14:m>
                <a:br>
                  <a:rPr lang="en-IN" dirty="0"/>
                </a:b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82B8602A-202D-9A02-D1B3-6A5FDA4FA5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30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76627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93E10-364C-793A-F2B8-0A5180E77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2">
            <a:extLst>
              <a:ext uri="{FF2B5EF4-FFF2-40B4-BE49-F238E27FC236}">
                <a16:creationId xmlns:a16="http://schemas.microsoft.com/office/drawing/2014/main" id="{2C677BCD-85CB-0D74-A5BF-D7C36F9616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3685" y="301872"/>
            <a:ext cx="5544629" cy="5956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D330124-F6F3-0F69-8B41-F5166CF09E6D}"/>
              </a:ext>
            </a:extLst>
          </p:cNvPr>
          <p:cNvSpPr txBox="1"/>
          <p:nvPr/>
        </p:nvSpPr>
        <p:spPr>
          <a:xfrm>
            <a:off x="4254500" y="33807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Theorem</a:t>
            </a:r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C9E7FD-3AB9-E769-376E-71A96F2A15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2200" y="933698"/>
                <a:ext cx="10515600" cy="5749021"/>
              </a:xfrm>
            </p:spPr>
            <p:txBody>
              <a:bodyPr>
                <a:normAutofit fontScale="70000" lnSpcReduction="20000"/>
              </a:bodyPr>
              <a:lstStyle/>
              <a:p>
                <a:pPr marL="0" lvl="0" indent="0">
                  <a:buNone/>
                </a:pPr>
                <a:r>
                  <a:rPr lang="en-IN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∩ B = card that is both a spade and an ace</a:t>
                </a:r>
              </a:p>
              <a:p>
                <a:pPr marL="0" lvl="0" indent="0">
                  <a:buNone/>
                </a:pPr>
                <a:br>
                  <a:rPr lang="en-IN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IN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is the </a:t>
                </a:r>
                <a:r>
                  <a:rPr lang="en-IN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Ace of Spades</a:t>
                </a:r>
                <a:r>
                  <a:rPr lang="en-IN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(only 1 card).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8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3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</m:oMath>
                  </m:oMathPara>
                </a14:m>
                <a:endParaRPr lang="en-IN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Now, by using the Addition Theorem</a:t>
                </a:r>
                <a:endParaRPr lang="en-IN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any two events A and B: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8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br>
                  <a:rPr lang="en-IN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IN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IN" sz="3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Substitute the values, we have </a:t>
                </a:r>
                <a:endParaRPr lang="en-IN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br>
                  <a:rPr lang="en-IN" sz="3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800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∪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3800" i="1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IN" sz="3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  <m:r>
                        <a:rPr lang="en-IN" sz="38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3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  <m:r>
                        <a:rPr lang="en-IN" sz="38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IN" sz="3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</m:oMath>
                  </m:oMathPara>
                </a14:m>
                <a:endParaRPr lang="en-IN" sz="3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IN" sz="3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sz="3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∪</m:t>
                          </m:r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sz="3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3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13</m:t>
                          </m:r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  <m:r>
                        <a:rPr lang="en-IN" sz="3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3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16</m:t>
                          </m:r>
                        </m:num>
                        <m:den>
                          <m:r>
                            <a:rPr lang="en-IN" sz="3800" i="1">
                              <a:latin typeface="Cambria Math" panose="02040503050406030204" pitchFamily="18" charset="0"/>
                            </a:rPr>
                            <m:t>52</m:t>
                          </m:r>
                        </m:den>
                      </m:f>
                      <m:r>
                        <a:rPr lang="en-IN" sz="38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C9E7FD-3AB9-E769-376E-71A96F2A15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2200" y="933698"/>
                <a:ext cx="10515600" cy="5749021"/>
              </a:xfrm>
              <a:blipFill>
                <a:blip r:embed="rId3"/>
                <a:stretch>
                  <a:fillRect l="-1101" t="-30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093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</TotalTime>
  <Words>1847</Words>
  <Application>Microsoft Office PowerPoint</Application>
  <PresentationFormat>Widescreen</PresentationFormat>
  <Paragraphs>240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PowerPoint Presentation</vt:lpstr>
      <vt:lpstr>Importance of the Course</vt:lpstr>
      <vt:lpstr>Course Outcomes</vt:lpstr>
      <vt:lpstr>Syllabus</vt:lpstr>
      <vt:lpstr>Syllabus</vt:lpstr>
      <vt:lpstr>Syllabus</vt:lpstr>
      <vt:lpstr>Syllabus</vt:lpstr>
      <vt:lpstr>Books</vt:lpstr>
      <vt:lpstr>Web Links</vt:lpstr>
      <vt:lpstr>Introduction</vt:lpstr>
      <vt:lpstr>Introduction</vt:lpstr>
      <vt:lpstr>Introduction</vt:lpstr>
      <vt:lpstr>Introduction</vt:lpstr>
      <vt:lpstr>Introduction</vt:lpstr>
      <vt:lpstr>Introduction</vt:lpstr>
      <vt:lpstr>Introduction</vt:lpstr>
      <vt:lpstr>Axiomatic Definition of Probability</vt:lpstr>
      <vt:lpstr>Note</vt:lpstr>
      <vt:lpstr>Addition Theorem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 PITHANI</dc:creator>
  <cp:lastModifiedBy>DIVYA PITHANI</cp:lastModifiedBy>
  <cp:revision>16</cp:revision>
  <dcterms:created xsi:type="dcterms:W3CDTF">2025-11-30T09:39:46Z</dcterms:created>
  <dcterms:modified xsi:type="dcterms:W3CDTF">2025-12-08T05:31:35Z</dcterms:modified>
</cp:coreProperties>
</file>